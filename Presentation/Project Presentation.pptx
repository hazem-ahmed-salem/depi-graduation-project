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1" r:id="rId2"/>
    <p:sldId id="268" r:id="rId3"/>
    <p:sldId id="264" r:id="rId4"/>
    <p:sldId id="270" r:id="rId5"/>
    <p:sldId id="271" r:id="rId6"/>
    <p:sldId id="266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EA8"/>
    <a:srgbClr val="D7B119"/>
    <a:srgbClr val="047954"/>
    <a:srgbClr val="0FA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9D154-8436-422E-99FF-ED81E8BCA54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6D4F7-3DFF-407D-85C2-5FD9441A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9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4826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117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34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499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56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262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1842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6780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6501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5105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0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25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2033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en-US" dirty="0">
                <a:solidFill>
                  <a:srgbClr val="0FAB7D"/>
                </a:solidFill>
                <a:effectLst/>
              </a:rPr>
              <a:t>Real-Time</a:t>
            </a:r>
            <a:br>
              <a:rPr lang="en-US" dirty="0">
                <a:solidFill>
                  <a:srgbClr val="0FAB7D"/>
                </a:solidFill>
                <a:effectLst/>
              </a:rPr>
            </a:br>
            <a:r>
              <a:rPr lang="en-US" sz="5300" dirty="0">
                <a:solidFill>
                  <a:srgbClr val="0FAB7D"/>
                </a:solidFill>
                <a:effectLst/>
              </a:rPr>
              <a:t>Hand Gesture Recognition</a:t>
            </a:r>
            <a:br>
              <a:rPr lang="en-US" dirty="0">
                <a:effectLst/>
              </a:rPr>
            </a:br>
            <a:endParaRPr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5191143"/>
            <a:ext cx="9144000" cy="81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Presenter Name: </a:t>
            </a:r>
            <a:r>
              <a:rPr lang="en-US" sz="2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Abdelrahman Tarek Elsherbiny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11/30/25</a:t>
            </a:r>
            <a:endParaRPr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ADCDB5-DB26-41A3-88F5-0F3B2AEEE89C}"/>
              </a:ext>
            </a:extLst>
          </p:cNvPr>
          <p:cNvSpPr txBox="1"/>
          <p:nvPr/>
        </p:nvSpPr>
        <p:spPr>
          <a:xfrm>
            <a:off x="142043" y="1238595"/>
            <a:ext cx="2183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The Problem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44421-5841-4412-93E7-328D7AE81361}"/>
              </a:ext>
            </a:extLst>
          </p:cNvPr>
          <p:cNvSpPr txBox="1"/>
          <p:nvPr/>
        </p:nvSpPr>
        <p:spPr>
          <a:xfrm>
            <a:off x="324033" y="1838007"/>
            <a:ext cx="11216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gg sans"/>
              </a:rPr>
              <a:t>Traditional computer interaction depends heavily on physical devices like keyboards and mice, which limit accessibility, reduce hygiene in shared environments, and restrict hands-free control.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7D5A9-04E9-4237-B442-46FC24D1A556}"/>
              </a:ext>
            </a:extLst>
          </p:cNvPr>
          <p:cNvSpPr txBox="1"/>
          <p:nvPr/>
        </p:nvSpPr>
        <p:spPr>
          <a:xfrm>
            <a:off x="142042" y="2832186"/>
            <a:ext cx="2032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The Solution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4FAF5-C965-45CC-A4D7-90985C620ADB}"/>
              </a:ext>
            </a:extLst>
          </p:cNvPr>
          <p:cNvSpPr txBox="1"/>
          <p:nvPr/>
        </p:nvSpPr>
        <p:spPr>
          <a:xfrm>
            <a:off x="363984" y="3363874"/>
            <a:ext cx="11216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g sans"/>
              </a:rPr>
              <a:t>A real-time hand gesture recognition system that interprets static hand poses using a standard webcam and converts them into interactive commands for navigation, media control, and general computer interaction.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54A756-288A-4F98-B5BE-02F254C7C999}"/>
              </a:ext>
            </a:extLst>
          </p:cNvPr>
          <p:cNvSpPr txBox="1"/>
          <p:nvPr/>
        </p:nvSpPr>
        <p:spPr>
          <a:xfrm>
            <a:off x="142042" y="4308662"/>
            <a:ext cx="388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Unique Value Proposition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8A89B5-C1DE-4148-B886-9450D1E74DF4}"/>
              </a:ext>
            </a:extLst>
          </p:cNvPr>
          <p:cNvSpPr txBox="1"/>
          <p:nvPr/>
        </p:nvSpPr>
        <p:spPr>
          <a:xfrm>
            <a:off x="363984" y="4922270"/>
            <a:ext cx="11176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g sans"/>
              </a:rPr>
              <a:t>Unlike generic vision-based systems, our approach uses lightweight landmark extraction, a custom-built dataset, and optimized real-time processing — enabling accurate, fast, touch-free control on everyday hardware without the need for specialized sensors.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" r="9081"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EEFB4E-14BC-48C7-AC39-1E95690C3A7D}"/>
              </a:ext>
            </a:extLst>
          </p:cNvPr>
          <p:cNvSpPr txBox="1"/>
          <p:nvPr/>
        </p:nvSpPr>
        <p:spPr>
          <a:xfrm>
            <a:off x="5344356" y="1408809"/>
            <a:ext cx="3080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336EA8"/>
                </a:solidFill>
                <a:effectLst/>
                <a:latin typeface="gg sans"/>
                <a:ea typeface="Arial" panose="020B0604020202020204" pitchFamily="34" charset="0"/>
                <a:cs typeface="Arial" panose="020B0604020202020204" pitchFamily="34" charset="0"/>
              </a:rPr>
              <a:t>Project Wireframe</a:t>
            </a:r>
            <a:endParaRPr lang="en-US" sz="2800" dirty="0">
              <a:solidFill>
                <a:srgbClr val="336EA8"/>
              </a:solidFill>
              <a:latin typeface="gg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7A6B9-D41D-4F8F-A901-74B0738BB670}"/>
              </a:ext>
            </a:extLst>
          </p:cNvPr>
          <p:cNvSpPr txBox="1"/>
          <p:nvPr/>
        </p:nvSpPr>
        <p:spPr>
          <a:xfrm>
            <a:off x="5563340" y="2074844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effectLst/>
                <a:latin typeface="gg sans"/>
              </a:rPr>
              <a:t>Key UI Elements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Live Camera Feed:</a:t>
            </a:r>
            <a:r>
              <a:rPr lang="en-US" sz="1600" b="0" i="0" dirty="0">
                <a:effectLst/>
                <a:latin typeface="gg sans"/>
              </a:rPr>
              <a:t> Displays real-time hand tracking and gesture recognition.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Prediction Panel:</a:t>
            </a:r>
            <a:r>
              <a:rPr lang="en-US" sz="1600" b="0" i="0" dirty="0">
                <a:effectLst/>
                <a:latin typeface="gg sans"/>
              </a:rPr>
              <a:t> Shows the detected gesture and confidence level clearly and instantly.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Control Status Indicators:</a:t>
            </a:r>
            <a:r>
              <a:rPr lang="en-US" sz="1600" b="0" i="0" dirty="0">
                <a:effectLst/>
                <a:latin typeface="gg sans"/>
              </a:rPr>
              <a:t> Visual cues highlighting which actions (mouse movement, scrolling, media control) are currently active.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Start/Stop Controls:</a:t>
            </a:r>
            <a:r>
              <a:rPr lang="en-US" sz="1600" b="0" i="0" dirty="0">
                <a:effectLst/>
                <a:latin typeface="gg sans"/>
              </a:rPr>
              <a:t> Easy access buttons to activate or deactivate gesture detection.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C98B6-DEEB-487A-BD78-CF2177EC1E50}"/>
              </a:ext>
            </a:extLst>
          </p:cNvPr>
          <p:cNvSpPr txBox="1"/>
          <p:nvPr/>
        </p:nvSpPr>
        <p:spPr>
          <a:xfrm>
            <a:off x="5563340" y="4584929"/>
            <a:ext cx="609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effectLst/>
                <a:latin typeface="gg sans"/>
              </a:rPr>
              <a:t>User Experience Focus</a:t>
            </a:r>
            <a:br>
              <a:rPr lang="en-US" sz="1600" b="0" i="0" dirty="0">
                <a:effectLst/>
                <a:latin typeface="gg sans"/>
              </a:rPr>
            </a:br>
            <a:r>
              <a:rPr lang="en-US" sz="1600" b="0" i="0" dirty="0">
                <a:effectLst/>
                <a:latin typeface="gg sans"/>
              </a:rPr>
              <a:t>The interface prioritizes simplicity and clarity, ensuring users can interact with the system effortlessly. Clear visual feedback enhance usability and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DF07D-18A6-4E8A-AE85-1E59776C00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7C097-8463-4ED9-A753-A94C72BEE446}"/>
              </a:ext>
            </a:extLst>
          </p:cNvPr>
          <p:cNvSpPr txBox="1"/>
          <p:nvPr/>
        </p:nvSpPr>
        <p:spPr>
          <a:xfrm>
            <a:off x="355106" y="1761815"/>
            <a:ext cx="8078681" cy="1529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Individuals</a:t>
            </a:r>
            <a:r>
              <a:rPr lang="en-US" sz="1600" b="0" i="0" dirty="0">
                <a:effectLst/>
                <a:latin typeface="gg sans"/>
              </a:rPr>
              <a:t> seeking hands-free computer control for convenience or accessibility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 </a:t>
            </a:r>
            <a:r>
              <a:rPr lang="en-US" sz="1600" b="1" i="0" dirty="0">
                <a:effectLst/>
                <a:latin typeface="gg sans"/>
              </a:rPr>
              <a:t>Businesses &amp; presenters </a:t>
            </a:r>
            <a:r>
              <a:rPr lang="en-US" sz="1600" b="0" i="0" dirty="0">
                <a:effectLst/>
                <a:latin typeface="gg sans"/>
              </a:rPr>
              <a:t>needing touch-free navigation during meetings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Media consumers </a:t>
            </a:r>
            <a:r>
              <a:rPr lang="en-US" sz="1600" b="0" i="0" dirty="0">
                <a:effectLst/>
                <a:latin typeface="gg sans"/>
              </a:rPr>
              <a:t>who want simple gesture-based playback control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Developers &amp; researchers </a:t>
            </a:r>
            <a:r>
              <a:rPr lang="en-US" sz="1600" b="0" i="0" dirty="0">
                <a:effectLst/>
                <a:latin typeface="gg sans"/>
              </a:rPr>
              <a:t>exploring gesture-based interaction systems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7C56E-FDC1-4C1D-9CFF-8C1BA8BD350C}"/>
              </a:ext>
            </a:extLst>
          </p:cNvPr>
          <p:cNvSpPr txBox="1"/>
          <p:nvPr/>
        </p:nvSpPr>
        <p:spPr>
          <a:xfrm>
            <a:off x="142042" y="1185327"/>
            <a:ext cx="3533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Primary User Personas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18B2D-4ACB-4408-883B-738711958ECB}"/>
              </a:ext>
            </a:extLst>
          </p:cNvPr>
          <p:cNvSpPr txBox="1"/>
          <p:nvPr/>
        </p:nvSpPr>
        <p:spPr>
          <a:xfrm>
            <a:off x="142042" y="3411240"/>
            <a:ext cx="3639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Primary User Personas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3B6FB-0B70-4311-BDA6-F10B4E140CDE}"/>
              </a:ext>
            </a:extLst>
          </p:cNvPr>
          <p:cNvSpPr txBox="1"/>
          <p:nvPr/>
        </p:nvSpPr>
        <p:spPr>
          <a:xfrm>
            <a:off x="355106" y="3931815"/>
            <a:ext cx="4962618" cy="1899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Real-time</a:t>
            </a:r>
            <a:r>
              <a:rPr lang="en-US" sz="1600" b="0" i="0" dirty="0">
                <a:effectLst/>
                <a:latin typeface="gg sans"/>
              </a:rPr>
              <a:t> static gesture recognition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Mouse movement and scrolling using </a:t>
            </a:r>
            <a:r>
              <a:rPr lang="en-US" sz="1600" b="1" i="0" dirty="0">
                <a:effectLst/>
                <a:latin typeface="gg sans"/>
              </a:rPr>
              <a:t>hand motion</a:t>
            </a:r>
            <a:r>
              <a:rPr lang="en-US" sz="1600" b="0" i="0" dirty="0">
                <a:effectLst/>
                <a:latin typeface="gg sans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Media navigation</a:t>
            </a:r>
            <a:r>
              <a:rPr lang="en-US" sz="1600" b="0" i="0" dirty="0">
                <a:effectLst/>
                <a:latin typeface="gg sans"/>
              </a:rPr>
              <a:t> (next/previous track)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Arrow-key and interface </a:t>
            </a:r>
            <a:r>
              <a:rPr lang="en-US" sz="1600" b="1" i="0" dirty="0">
                <a:effectLst/>
                <a:latin typeface="gg sans"/>
              </a:rPr>
              <a:t>navigation</a:t>
            </a:r>
            <a:r>
              <a:rPr lang="en-US" sz="1600" b="0" i="0" dirty="0">
                <a:effectLst/>
                <a:latin typeface="gg sans"/>
              </a:rPr>
              <a:t> through </a:t>
            </a:r>
            <a:r>
              <a:rPr lang="en-US" sz="1600" b="1" i="0" dirty="0">
                <a:effectLst/>
                <a:latin typeface="gg sans"/>
              </a:rPr>
              <a:t>gestures</a:t>
            </a:r>
            <a:r>
              <a:rPr lang="en-US" sz="1600" b="0" i="0" dirty="0">
                <a:effectLst/>
                <a:latin typeface="gg sans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 err="1">
                <a:effectLst/>
                <a:latin typeface="gg sans"/>
              </a:rPr>
              <a:t>Streamlit</a:t>
            </a:r>
            <a:r>
              <a:rPr lang="en-US" sz="1600" b="1" i="0" dirty="0">
                <a:effectLst/>
                <a:latin typeface="gg sans"/>
              </a:rPr>
              <a:t>-based</a:t>
            </a:r>
            <a:r>
              <a:rPr lang="en-US" sz="1600" b="0" i="0" dirty="0">
                <a:effectLst/>
                <a:latin typeface="gg sans"/>
              </a:rPr>
              <a:t> interface for easy access and testing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6B85B-1987-4DA4-9D92-D4DCC06551A1}"/>
              </a:ext>
            </a:extLst>
          </p:cNvPr>
          <p:cNvSpPr txBox="1"/>
          <p:nvPr/>
        </p:nvSpPr>
        <p:spPr>
          <a:xfrm>
            <a:off x="5205973" y="3429000"/>
            <a:ext cx="614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How These Features Solve User Problems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C760B6-6A3D-4383-BEEA-706183B2BCD8}"/>
              </a:ext>
            </a:extLst>
          </p:cNvPr>
          <p:cNvSpPr txBox="1"/>
          <p:nvPr/>
        </p:nvSpPr>
        <p:spPr>
          <a:xfrm>
            <a:off x="5388853" y="4076663"/>
            <a:ext cx="60945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Individuals:</a:t>
            </a:r>
            <a:r>
              <a:rPr lang="en-US" sz="1600" b="0" i="0" dirty="0">
                <a:effectLst/>
                <a:latin typeface="gg sans"/>
              </a:rPr>
              <a:t> Gain seamless, touch-free control without relying on physical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Businesses:</a:t>
            </a:r>
            <a:r>
              <a:rPr lang="en-US" sz="1600" b="0" i="0" dirty="0">
                <a:effectLst/>
                <a:latin typeface="gg sans"/>
              </a:rPr>
              <a:t> Improve flow and hygiene during presentations by navigating slides via gestures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Media Users: </a:t>
            </a:r>
            <a:r>
              <a:rPr lang="en-US" sz="1600" b="0" i="0" dirty="0">
                <a:effectLst/>
                <a:latin typeface="gg sans"/>
              </a:rPr>
              <a:t>Control music playback effortlessly while multitasking or at a distance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Developers:</a:t>
            </a:r>
            <a:r>
              <a:rPr lang="en-US" sz="1600" b="0" i="0" dirty="0">
                <a:effectLst/>
                <a:latin typeface="gg sans"/>
              </a:rPr>
              <a:t> Access a ready-to-use platform for prototyping gesture-based interfaces</a:t>
            </a:r>
            <a:endParaRPr lang="en-US" sz="1600" dirty="0"/>
          </a:p>
        </p:txBody>
      </p:sp>
      <p:pic>
        <p:nvPicPr>
          <p:cNvPr id="19" name="Google Shape;110;p1">
            <a:extLst>
              <a:ext uri="{FF2B5EF4-FFF2-40B4-BE49-F238E27FC236}">
                <a16:creationId xmlns:a16="http://schemas.microsoft.com/office/drawing/2014/main" id="{B130C2F5-2E68-4049-B0D2-52B601E7AB13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23;p12">
            <a:extLst>
              <a:ext uri="{FF2B5EF4-FFF2-40B4-BE49-F238E27FC236}">
                <a16:creationId xmlns:a16="http://schemas.microsoft.com/office/drawing/2014/main" id="{10F0DC94-A6EA-43EC-827C-417E49539DD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</p:spTree>
    <p:extLst>
      <p:ext uri="{BB962C8B-B14F-4D97-AF65-F5344CB8AC3E}">
        <p14:creationId xmlns:p14="http://schemas.microsoft.com/office/powerpoint/2010/main" val="331597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E418E-7015-4DF2-9E2C-214D2DA71B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F81520D7-62EA-43C7-9656-A1838193ABEE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3;p12">
            <a:extLst>
              <a:ext uri="{FF2B5EF4-FFF2-40B4-BE49-F238E27FC236}">
                <a16:creationId xmlns:a16="http://schemas.microsoft.com/office/drawing/2014/main" id="{71D2A11F-277D-4177-B184-8C76661F85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F7E97-FCEC-44B7-87DE-FD484D3C63F9}"/>
              </a:ext>
            </a:extLst>
          </p:cNvPr>
          <p:cNvSpPr txBox="1"/>
          <p:nvPr/>
        </p:nvSpPr>
        <p:spPr>
          <a:xfrm>
            <a:off x="142042" y="1185327"/>
            <a:ext cx="2334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Data Structure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5FB16-D13C-4B55-AD59-7F8AE0F6DA5E}"/>
              </a:ext>
            </a:extLst>
          </p:cNvPr>
          <p:cNvSpPr txBox="1"/>
          <p:nvPr/>
        </p:nvSpPr>
        <p:spPr>
          <a:xfrm>
            <a:off x="521561" y="1773773"/>
            <a:ext cx="11241352" cy="1529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A custom data collection tool was used to capture gesture images from multiple users.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Raw images were processed to extract 21 hand landmarks per frame using </a:t>
            </a:r>
            <a:r>
              <a:rPr lang="en-US" sz="1600" b="0" i="0" dirty="0" err="1">
                <a:effectLst/>
                <a:latin typeface="gg sans"/>
              </a:rPr>
              <a:t>MediaPipe</a:t>
            </a:r>
            <a:r>
              <a:rPr lang="en-US" sz="1600" b="0" i="0" dirty="0">
                <a:effectLst/>
                <a:latin typeface="gg sans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Landmark coordinates were stored in a structured NPZ format for efficient training and reuse.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The model was trained entirely on the extracted landmark data rather than raw images, reducing complexity and improving speed.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BE407-3B6E-499C-BF32-3D1AD9FEB717}"/>
              </a:ext>
            </a:extLst>
          </p:cNvPr>
          <p:cNvSpPr txBox="1"/>
          <p:nvPr/>
        </p:nvSpPr>
        <p:spPr>
          <a:xfrm>
            <a:off x="142042" y="3532471"/>
            <a:ext cx="26148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0" i="0" dirty="0">
                <a:solidFill>
                  <a:srgbClr val="336EA8"/>
                </a:solidFill>
                <a:effectLst/>
                <a:latin typeface="gg sans"/>
              </a:rPr>
              <a:t>Dataset Summary</a:t>
            </a:r>
            <a:endParaRPr lang="en-US" sz="2600" dirty="0">
              <a:solidFill>
                <a:srgbClr val="336EA8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615ED-CE26-4905-8D74-9D7C6E681C97}"/>
              </a:ext>
            </a:extLst>
          </p:cNvPr>
          <p:cNvSpPr txBox="1"/>
          <p:nvPr/>
        </p:nvSpPr>
        <p:spPr>
          <a:xfrm>
            <a:off x="521561" y="4142593"/>
            <a:ext cx="3153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10 gesture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2,500 images per class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26,000 images captured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354E6-4A98-4D6D-9F7E-20BBFF43C1AE}"/>
              </a:ext>
            </a:extLst>
          </p:cNvPr>
          <p:cNvSpPr txBox="1"/>
          <p:nvPr/>
        </p:nvSpPr>
        <p:spPr>
          <a:xfrm>
            <a:off x="383959" y="5222445"/>
            <a:ext cx="4330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g sans"/>
              </a:rPr>
              <a:t>Dataset was balanced, ensuring equal representation across all gesture categories.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1D88C-CBBB-4911-B88A-E77C0A470F18}"/>
              </a:ext>
            </a:extLst>
          </p:cNvPr>
          <p:cNvSpPr txBox="1"/>
          <p:nvPr/>
        </p:nvSpPr>
        <p:spPr>
          <a:xfrm>
            <a:off x="5311066" y="3532471"/>
            <a:ext cx="40441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0" i="0" dirty="0">
                <a:solidFill>
                  <a:srgbClr val="336EA8"/>
                </a:solidFill>
                <a:effectLst/>
                <a:latin typeface="gg sans"/>
              </a:rPr>
              <a:t>Key Processing Techniques</a:t>
            </a:r>
            <a:endParaRPr lang="en-US" sz="2600" dirty="0">
              <a:solidFill>
                <a:srgbClr val="336EA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4A7CEB-DDEC-4A95-A9F3-F475E99512CB}"/>
              </a:ext>
            </a:extLst>
          </p:cNvPr>
          <p:cNvSpPr txBox="1"/>
          <p:nvPr/>
        </p:nvSpPr>
        <p:spPr>
          <a:xfrm>
            <a:off x="5623638" y="414259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Hand segmentation and landmark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Normalization of coordinate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Data augmentation applied to improve robustness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522778-AB6C-42E6-996B-BDA59C161B3E}"/>
              </a:ext>
            </a:extLst>
          </p:cNvPr>
          <p:cNvSpPr txBox="1"/>
          <p:nvPr/>
        </p:nvSpPr>
        <p:spPr>
          <a:xfrm>
            <a:off x="5515252" y="5222445"/>
            <a:ext cx="5786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g sans"/>
              </a:rPr>
              <a:t>This pipeline ensures clean, consistent, and lightweight training data optimized for real-time gesture recognition.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04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CD12E1-66A4-4930-8850-1B1584036510}"/>
              </a:ext>
            </a:extLst>
          </p:cNvPr>
          <p:cNvSpPr txBox="1"/>
          <p:nvPr/>
        </p:nvSpPr>
        <p:spPr>
          <a:xfrm>
            <a:off x="142041" y="1185327"/>
            <a:ext cx="3781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Programming Languages 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97B27-0141-41B6-8983-53BCD5149EC5}"/>
              </a:ext>
            </a:extLst>
          </p:cNvPr>
          <p:cNvSpPr txBox="1"/>
          <p:nvPr/>
        </p:nvSpPr>
        <p:spPr>
          <a:xfrm>
            <a:off x="534139" y="1832832"/>
            <a:ext cx="9009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gg sans"/>
              </a:rPr>
              <a:t>Python:</a:t>
            </a:r>
            <a:r>
              <a:rPr lang="en-US" sz="1600" b="0" i="0" dirty="0">
                <a:effectLst/>
                <a:latin typeface="gg sans"/>
              </a:rPr>
              <a:t> Primary language used for model development, data processing, computer vision, and real-time inference. 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98807-1DF8-4AD7-B52B-B0627DD5214B}"/>
              </a:ext>
            </a:extLst>
          </p:cNvPr>
          <p:cNvSpPr txBox="1"/>
          <p:nvPr/>
        </p:nvSpPr>
        <p:spPr>
          <a:xfrm>
            <a:off x="142040" y="2452526"/>
            <a:ext cx="3124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Frameworks &amp; Tools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0DBB1-EB44-41CE-8660-902BC9D3E356}"/>
              </a:ext>
            </a:extLst>
          </p:cNvPr>
          <p:cNvSpPr txBox="1"/>
          <p:nvPr/>
        </p:nvSpPr>
        <p:spPr>
          <a:xfrm>
            <a:off x="534139" y="3064519"/>
            <a:ext cx="97728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TensorFlow / </a:t>
            </a:r>
            <a:r>
              <a:rPr lang="en-US" sz="1600" b="1" i="0" dirty="0" err="1">
                <a:effectLst/>
                <a:latin typeface="gg sans"/>
              </a:rPr>
              <a:t>Keras</a:t>
            </a:r>
            <a:r>
              <a:rPr lang="en-US" sz="1600" b="1" i="0" dirty="0">
                <a:effectLst/>
                <a:latin typeface="gg sans"/>
              </a:rPr>
              <a:t>:</a:t>
            </a:r>
            <a:r>
              <a:rPr lang="en-US" sz="1600" b="0" i="0" dirty="0">
                <a:effectLst/>
                <a:latin typeface="gg sans"/>
              </a:rPr>
              <a:t> Building, training, and optimizing the gesture recognition model </a:t>
            </a:r>
            <a:endParaRPr lang="ar-EG" sz="1600" b="0" i="0" dirty="0">
              <a:effectLst/>
              <a:latin typeface="gg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 err="1">
                <a:effectLst/>
                <a:latin typeface="gg sans"/>
              </a:rPr>
              <a:t>MediaPipe</a:t>
            </a:r>
            <a:r>
              <a:rPr lang="en-US" sz="1600" b="1" i="0" dirty="0">
                <a:effectLst/>
                <a:latin typeface="gg sans"/>
              </a:rPr>
              <a:t>:</a:t>
            </a:r>
            <a:r>
              <a:rPr lang="en-US" sz="1600" b="0" i="0" dirty="0">
                <a:effectLst/>
                <a:latin typeface="gg sans"/>
              </a:rPr>
              <a:t> Extracting precise hand landmarks for lightweight feature representation </a:t>
            </a:r>
            <a:endParaRPr lang="ar-EG" sz="1600" b="0" i="0" dirty="0">
              <a:effectLst/>
              <a:latin typeface="gg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OpenCV:</a:t>
            </a:r>
            <a:r>
              <a:rPr lang="en-US" sz="1600" b="0" i="0" dirty="0">
                <a:effectLst/>
                <a:latin typeface="gg sans"/>
              </a:rPr>
              <a:t> Real-time video capture and frame processing </a:t>
            </a:r>
            <a:endParaRPr lang="ar-EG" sz="1600" b="0" i="0" dirty="0">
              <a:effectLst/>
              <a:latin typeface="gg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0" dirty="0" err="1">
                <a:effectLst/>
                <a:latin typeface="gg sans"/>
              </a:rPr>
              <a:t>Streamlit</a:t>
            </a:r>
            <a:r>
              <a:rPr lang="en-US" sz="1600" b="1" i="0" dirty="0">
                <a:effectLst/>
                <a:latin typeface="gg sans"/>
              </a:rPr>
              <a:t>:</a:t>
            </a:r>
            <a:r>
              <a:rPr lang="en-US" sz="1600" b="0" i="0" dirty="0">
                <a:effectLst/>
                <a:latin typeface="gg sans"/>
              </a:rPr>
              <a:t> Creating an interactive, user-friendly interface for testing the system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DCD20-29E0-4E8D-B50F-47CE42C295B2}"/>
              </a:ext>
            </a:extLst>
          </p:cNvPr>
          <p:cNvSpPr txBox="1"/>
          <p:nvPr/>
        </p:nvSpPr>
        <p:spPr>
          <a:xfrm>
            <a:off x="142040" y="4203876"/>
            <a:ext cx="3781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Supporting Technologies 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A5CA0-FB72-456D-916E-559197753906}"/>
              </a:ext>
            </a:extLst>
          </p:cNvPr>
          <p:cNvSpPr txBox="1"/>
          <p:nvPr/>
        </p:nvSpPr>
        <p:spPr>
          <a:xfrm>
            <a:off x="401712" y="4706607"/>
            <a:ext cx="112813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g sans"/>
              </a:rPr>
              <a:t>NumPy &amp; Pandas:</a:t>
            </a:r>
            <a:r>
              <a:rPr lang="en-US" b="0" i="0" dirty="0">
                <a:effectLst/>
                <a:latin typeface="gg sans"/>
              </a:rPr>
              <a:t> Data handling and CSV management Azure (planned): Cloud deployment, scaling, and model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  <a:latin typeface="gg sans"/>
              </a:rPr>
              <a:t>PyAutoGUI</a:t>
            </a:r>
            <a:r>
              <a:rPr lang="en-US" b="1" i="0" dirty="0">
                <a:effectLst/>
                <a:latin typeface="gg sans"/>
              </a:rPr>
              <a:t>:</a:t>
            </a:r>
            <a:r>
              <a:rPr lang="en-US" b="0" i="0" dirty="0">
                <a:effectLst/>
                <a:latin typeface="gg sans"/>
              </a:rPr>
              <a:t> Enabling gesture-based control of mouse, scrolling, and media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gg sans"/>
            </a:endParaRPr>
          </a:p>
          <a:p>
            <a:r>
              <a:rPr lang="en-US" b="1" i="0" dirty="0">
                <a:effectLst/>
                <a:latin typeface="gg sans"/>
              </a:rPr>
              <a:t>These technologies collectively enabled fast prototyping, accurate model training, and seamless real-time interaction.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A2E9A-7FB7-413D-AB68-A811376639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46C070D6-2F9C-412A-8DEB-8C83B9061053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5;p11">
            <a:extLst>
              <a:ext uri="{FF2B5EF4-FFF2-40B4-BE49-F238E27FC236}">
                <a16:creationId xmlns:a16="http://schemas.microsoft.com/office/drawing/2014/main" id="{83C2A403-A0E7-47FD-9B0F-13D106D1CE0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A6F20-B326-4674-A0F9-BF348DCA5CE4}"/>
              </a:ext>
            </a:extLst>
          </p:cNvPr>
          <p:cNvSpPr txBox="1"/>
          <p:nvPr/>
        </p:nvSpPr>
        <p:spPr>
          <a:xfrm>
            <a:off x="142042" y="1185327"/>
            <a:ext cx="2352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Testing Phases 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B9860-3C15-4492-9E47-3D99B4D8EB75}"/>
              </a:ext>
            </a:extLst>
          </p:cNvPr>
          <p:cNvSpPr txBox="1"/>
          <p:nvPr/>
        </p:nvSpPr>
        <p:spPr>
          <a:xfrm>
            <a:off x="461638" y="1862893"/>
            <a:ext cx="10892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g sans"/>
              </a:rPr>
              <a:t>Model Evaluation:</a:t>
            </a:r>
            <a:r>
              <a:rPr lang="en-US" b="0" i="0" dirty="0">
                <a:effectLst/>
                <a:latin typeface="gg sans"/>
              </a:rPr>
              <a:t> Tested classification accuracy, confidence levels, and stability across different lighting conditions and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g sans"/>
              </a:rPr>
              <a:t>Functional Testing:</a:t>
            </a:r>
            <a:r>
              <a:rPr lang="en-US" b="0" i="0" dirty="0">
                <a:effectLst/>
                <a:latin typeface="gg sans"/>
              </a:rPr>
              <a:t> Verified real-time response, gesture detection consistency, and correct mapping to control actions (mouse movement, scrolling, media navigation).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g sans"/>
              </a:rPr>
              <a:t>Internal User Testing:</a:t>
            </a:r>
            <a:r>
              <a:rPr lang="en-US" b="0" i="0" dirty="0">
                <a:effectLst/>
                <a:latin typeface="gg sans"/>
              </a:rPr>
              <a:t> Team members interacted with the system to ensure smooth operation, identify edge cases, and validate usability.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B0D51-B578-439C-A343-0B18FDA5F189}"/>
              </a:ext>
            </a:extLst>
          </p:cNvPr>
          <p:cNvSpPr txBox="1"/>
          <p:nvPr/>
        </p:nvSpPr>
        <p:spPr>
          <a:xfrm>
            <a:off x="142042" y="3771565"/>
            <a:ext cx="262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Team Feedback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6CC9E-6EC8-4BDC-AC15-0C2EFF858E8A}"/>
              </a:ext>
            </a:extLst>
          </p:cNvPr>
          <p:cNvSpPr txBox="1"/>
          <p:nvPr/>
        </p:nvSpPr>
        <p:spPr>
          <a:xfrm>
            <a:off x="461637" y="4339139"/>
            <a:ext cx="9911555" cy="1709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Recognition was generally fast and reliable during live testing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Some gestures required clearer boundaries, leading to refinement of gesture definitions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Testing revealed the need for additional preprocessing to handle lighting variation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Feedback helped improve dataset quality, landmark extraction consistency, and overall usability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5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AC8B0-8309-46E7-99BA-AD980F66E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85F21A3B-41B1-43FC-A621-04528CE2DF1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5;p11">
            <a:extLst>
              <a:ext uri="{FF2B5EF4-FFF2-40B4-BE49-F238E27FC236}">
                <a16:creationId xmlns:a16="http://schemas.microsoft.com/office/drawing/2014/main" id="{8A81A144-6F40-46C4-841F-86FA88ADD37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F8F8F-C501-4BC6-8D0C-F565EC6D968E}"/>
              </a:ext>
            </a:extLst>
          </p:cNvPr>
          <p:cNvSpPr txBox="1"/>
          <p:nvPr/>
        </p:nvSpPr>
        <p:spPr>
          <a:xfrm>
            <a:off x="142042" y="1185327"/>
            <a:ext cx="2352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336EA8"/>
                </a:solidFill>
                <a:effectLst/>
                <a:latin typeface="gg sans"/>
                <a:ea typeface="Arial" panose="020B0604020202020204" pitchFamily="34" charset="0"/>
                <a:cs typeface="Arial" panose="020B0604020202020204" pitchFamily="34" charset="0"/>
              </a:rPr>
              <a:t>Deliverables</a:t>
            </a:r>
            <a:endParaRPr lang="en-US" sz="2800" dirty="0">
              <a:solidFill>
                <a:srgbClr val="336EA8"/>
              </a:solidFill>
              <a:latin typeface="gg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4A3E1-11D4-4FB0-B4EB-0A95F30D964B}"/>
              </a:ext>
            </a:extLst>
          </p:cNvPr>
          <p:cNvSpPr txBox="1"/>
          <p:nvPr/>
        </p:nvSpPr>
        <p:spPr>
          <a:xfrm>
            <a:off x="372861" y="1810086"/>
            <a:ext cx="10209321" cy="2132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Technical Specifications:</a:t>
            </a:r>
            <a:r>
              <a:rPr lang="en-US" sz="1600" b="0" i="0" dirty="0">
                <a:effectLst/>
                <a:latin typeface="gg sans"/>
              </a:rPr>
              <a:t> Model architecture, preprocessing pipeline, landmark extraction, and control logic. </a:t>
            </a:r>
          </a:p>
          <a:p>
            <a:pPr marL="285750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Developer Notebooks: </a:t>
            </a:r>
          </a:p>
          <a:p>
            <a:pPr marL="742950" lvl="1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Data </a:t>
            </a:r>
            <a:r>
              <a:rPr lang="en-US" sz="1600" b="0" i="0" dirty="0" err="1">
                <a:effectLst/>
                <a:latin typeface="gg sans"/>
              </a:rPr>
              <a:t>Preprocessing.ipynb</a:t>
            </a:r>
            <a:r>
              <a:rPr lang="en-US" sz="1600" b="0" i="0" dirty="0">
                <a:effectLst/>
                <a:latin typeface="gg sans"/>
              </a:rPr>
              <a:t> </a:t>
            </a:r>
          </a:p>
          <a:p>
            <a:pPr marL="742950" lvl="1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gg sans"/>
              </a:rPr>
              <a:t>Model_Training.ipynb</a:t>
            </a:r>
            <a:r>
              <a:rPr lang="en-US" sz="1600" b="0" i="0" dirty="0">
                <a:effectLst/>
                <a:latin typeface="gg sans"/>
              </a:rPr>
              <a:t> </a:t>
            </a:r>
          </a:p>
          <a:p>
            <a:pPr marL="285750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Monitoring Reports: </a:t>
            </a:r>
            <a:r>
              <a:rPr lang="en-US" sz="1600" b="0" i="0" dirty="0">
                <a:effectLst/>
                <a:latin typeface="gg sans"/>
              </a:rPr>
              <a:t>Monitoring Data.csv, Monitoring.log, and monitoring_module.py </a:t>
            </a:r>
          </a:p>
          <a:p>
            <a:pPr marL="285750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User &amp; Setup Documentation: </a:t>
            </a:r>
          </a:p>
          <a:p>
            <a:pPr marL="742950" lvl="1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Instructions for running realtime_detection.py and realtime_gesture_controller.py </a:t>
            </a:r>
          </a:p>
          <a:p>
            <a:pPr marL="742950" lvl="1" indent="-285750">
              <a:lnSpc>
                <a:spcPts val="202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Environment setup via requirements.txt 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C3FA0-93AC-42DD-96C8-CC5BE230774D}"/>
              </a:ext>
            </a:extLst>
          </p:cNvPr>
          <p:cNvSpPr txBox="1"/>
          <p:nvPr/>
        </p:nvSpPr>
        <p:spPr>
          <a:xfrm>
            <a:off x="142042" y="3872189"/>
            <a:ext cx="196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336EA8"/>
                </a:solidFill>
                <a:effectLst/>
                <a:latin typeface="gg sans"/>
                <a:ea typeface="Arial" panose="020B0604020202020204" pitchFamily="34" charset="0"/>
                <a:cs typeface="Arial" panose="020B0604020202020204" pitchFamily="34" charset="0"/>
              </a:rPr>
              <a:t>Timeline</a:t>
            </a:r>
            <a:endParaRPr lang="en-US" sz="2800" dirty="0">
              <a:solidFill>
                <a:srgbClr val="336EA8"/>
              </a:solidFill>
              <a:latin typeface="gg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EFF8E-4648-498E-B82A-3FD63FBF1B98}"/>
              </a:ext>
            </a:extLst>
          </p:cNvPr>
          <p:cNvSpPr txBox="1"/>
          <p:nvPr/>
        </p:nvSpPr>
        <p:spPr>
          <a:xfrm>
            <a:off x="676921" y="4392177"/>
            <a:ext cx="6416337" cy="166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US" sz="1600" b="0" i="0" dirty="0">
                <a:effectLst/>
                <a:latin typeface="gg sans"/>
              </a:rPr>
              <a:t>Milestone 1 – Data Collection &amp; Preprocessing: 		 2 weeks 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US" sz="1600" b="0" i="0" dirty="0">
                <a:effectLst/>
                <a:latin typeface="gg sans"/>
              </a:rPr>
              <a:t>Milestone 2 – Model Development &amp; Training: 	</a:t>
            </a:r>
            <a:r>
              <a:rPr lang="en-US" sz="1600" dirty="0">
                <a:latin typeface="gg sans"/>
              </a:rPr>
              <a:t>                  </a:t>
            </a:r>
            <a:r>
              <a:rPr lang="en-US" sz="1600" b="0" i="0" dirty="0">
                <a:effectLst/>
                <a:latin typeface="gg sans"/>
              </a:rPr>
              <a:t>1-2 weeks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US" sz="1600" b="0" i="0" dirty="0">
                <a:effectLst/>
                <a:latin typeface="gg sans"/>
              </a:rPr>
              <a:t>Milestone 3 – Real-Time Recognition &amp; Deployment:               1–2 weeks 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US" sz="1600" b="0" i="0" dirty="0">
                <a:effectLst/>
                <a:latin typeface="gg sans"/>
              </a:rPr>
              <a:t>Milestone 4 – MLOps &amp; Monitoring: 		                     2 weeks 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US" sz="1600" b="0" i="0" dirty="0">
                <a:effectLst/>
                <a:latin typeface="gg sans"/>
              </a:rPr>
              <a:t>Milestone 5 – Final Documentation &amp; Presentation: 	 2 weeks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2435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46D0-0FCD-47FF-8D76-A6FBBBAEAF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9FC20400-7F03-48CB-8FBB-4D7CA0D72C90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5;p11">
            <a:extLst>
              <a:ext uri="{FF2B5EF4-FFF2-40B4-BE49-F238E27FC236}">
                <a16:creationId xmlns:a16="http://schemas.microsoft.com/office/drawing/2014/main" id="{67B2D46C-0150-44EC-B2E4-916CE6702FC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23065-DC98-481F-B09E-E62D26CA76E6}"/>
              </a:ext>
            </a:extLst>
          </p:cNvPr>
          <p:cNvSpPr txBox="1"/>
          <p:nvPr/>
        </p:nvSpPr>
        <p:spPr>
          <a:xfrm>
            <a:off x="142042" y="1194205"/>
            <a:ext cx="335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336EA8"/>
                </a:solidFill>
                <a:effectLst/>
                <a:latin typeface="gg sans"/>
              </a:rPr>
              <a:t>Final Project Outputs </a:t>
            </a:r>
            <a:endParaRPr lang="en-US" sz="2800" dirty="0">
              <a:solidFill>
                <a:srgbClr val="336EA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39901-4043-4521-B6BB-9232E1E2C7D1}"/>
              </a:ext>
            </a:extLst>
          </p:cNvPr>
          <p:cNvSpPr txBox="1"/>
          <p:nvPr/>
        </p:nvSpPr>
        <p:spPr>
          <a:xfrm>
            <a:off x="597131" y="1773773"/>
            <a:ext cx="8413812" cy="3890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Fully working real-time gesture recognition app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Gesture-based control program (mouse, scrolling, media navigation)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Complete source code repository, including: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Model files (</a:t>
            </a:r>
            <a:r>
              <a:rPr lang="en-US" b="0" i="0" dirty="0" err="1">
                <a:effectLst/>
                <a:latin typeface="gg sans"/>
              </a:rPr>
              <a:t>hand_gesture_norm_model.pkl</a:t>
            </a:r>
            <a:r>
              <a:rPr lang="en-US" b="0" i="0" dirty="0">
                <a:effectLst/>
                <a:latin typeface="gg sans"/>
              </a:rPr>
              <a:t>, </a:t>
            </a:r>
            <a:r>
              <a:rPr lang="en-US" b="0" i="0" dirty="0" err="1">
                <a:effectLst/>
                <a:latin typeface="gg sans"/>
              </a:rPr>
              <a:t>scaler.pkl</a:t>
            </a:r>
            <a:r>
              <a:rPr lang="en-US" b="0" i="0" dirty="0">
                <a:effectLst/>
                <a:latin typeface="gg sans"/>
              </a:rPr>
              <a:t>)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Action mappings (actions.py)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Segmentation and detection modules (segment_image.py, realtime_detection.py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g sans"/>
              </a:rPr>
              <a:t>Logging, monitoring, and </a:t>
            </a:r>
            <a:r>
              <a:rPr lang="en-US" b="0" i="0" dirty="0" err="1">
                <a:effectLst/>
                <a:latin typeface="gg sans"/>
              </a:rPr>
              <a:t>MLflow</a:t>
            </a:r>
            <a:r>
              <a:rPr lang="en-US" b="0" i="0" dirty="0">
                <a:effectLst/>
                <a:latin typeface="gg sans"/>
              </a:rPr>
              <a:t> tracking tools (mlflow_log_model.py)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934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00C8A-EC9D-4564-ACE6-B298E4467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44A584C2-B6A6-4372-84C0-9CD565B88688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5;p11">
            <a:extLst>
              <a:ext uri="{FF2B5EF4-FFF2-40B4-BE49-F238E27FC236}">
                <a16:creationId xmlns:a16="http://schemas.microsoft.com/office/drawing/2014/main" id="{5EA565D9-B087-4DD9-AB51-685FFBC4B0D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B10268-E45C-4AE4-AEF6-2DFABCE11F88}"/>
              </a:ext>
            </a:extLst>
          </p:cNvPr>
          <p:cNvSpPr txBox="1"/>
          <p:nvPr/>
        </p:nvSpPr>
        <p:spPr>
          <a:xfrm>
            <a:off x="142042" y="1194205"/>
            <a:ext cx="2485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i="0" dirty="0">
                <a:solidFill>
                  <a:srgbClr val="336EA8"/>
                </a:solidFill>
                <a:effectLst/>
                <a:latin typeface="gg sans"/>
              </a:rPr>
              <a:t>Team Members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BBFF8-51DD-4651-859C-D15C939A0335}"/>
              </a:ext>
            </a:extLst>
          </p:cNvPr>
          <p:cNvSpPr txBox="1"/>
          <p:nvPr/>
        </p:nvSpPr>
        <p:spPr>
          <a:xfrm>
            <a:off x="305535" y="1717425"/>
            <a:ext cx="5083206" cy="154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Ahmed Mohamed Ahmed Albadawy Abdel-Gawad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Abdelrahman Tarek Mansour Elsherbiny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Hazem Ahmed Mohamed Salem El-</a:t>
            </a:r>
            <a:r>
              <a:rPr lang="en-US" sz="1600" b="1" i="0" dirty="0" err="1">
                <a:effectLst/>
                <a:latin typeface="gg sans"/>
              </a:rPr>
              <a:t>bamby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Yousef Fady </a:t>
            </a:r>
            <a:r>
              <a:rPr lang="en-US" sz="1600" b="1" i="0" dirty="0" err="1">
                <a:effectLst/>
                <a:latin typeface="gg sans"/>
              </a:rPr>
              <a:t>Gamil</a:t>
            </a:r>
            <a:r>
              <a:rPr lang="en-US" sz="1600" b="1" i="0" dirty="0">
                <a:effectLst/>
                <a:latin typeface="gg sans"/>
              </a:rPr>
              <a:t> </a:t>
            </a:r>
            <a:r>
              <a:rPr lang="en-US" sz="1600" b="1" i="0" dirty="0" err="1">
                <a:effectLst/>
                <a:latin typeface="gg sans"/>
              </a:rPr>
              <a:t>Mahroos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lnSpc>
                <a:spcPts val="232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Mohamed Hatem Salah Ibrahim Rashed</a:t>
            </a:r>
            <a:endParaRPr lang="en-US" sz="1600" b="0" i="0" dirty="0">
              <a:effectLst/>
              <a:latin typeface="gg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AD9F2-DEF3-43C2-B3D6-28768F55D4A6}"/>
              </a:ext>
            </a:extLst>
          </p:cNvPr>
          <p:cNvSpPr txBox="1"/>
          <p:nvPr/>
        </p:nvSpPr>
        <p:spPr>
          <a:xfrm>
            <a:off x="287044" y="3340004"/>
            <a:ext cx="345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  <a:latin typeface="gg sans"/>
              </a:rPr>
              <a:t>Role for All Members: </a:t>
            </a:r>
            <a:r>
              <a:rPr lang="en-US" b="1" i="0" dirty="0">
                <a:effectLst/>
                <a:latin typeface="gg sans"/>
              </a:rPr>
              <a:t>AI Engineers</a:t>
            </a:r>
            <a:endParaRPr lang="en-US" b="1" dirty="0">
              <a:latin typeface="gg sa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CDA3AC-8AD2-4D18-A200-0C17D431633B}"/>
              </a:ext>
            </a:extLst>
          </p:cNvPr>
          <p:cNvSpPr txBox="1"/>
          <p:nvPr/>
        </p:nvSpPr>
        <p:spPr>
          <a:xfrm>
            <a:off x="5493798" y="1194205"/>
            <a:ext cx="3123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i="0" dirty="0">
                <a:solidFill>
                  <a:srgbClr val="336EA8"/>
                </a:solidFill>
                <a:effectLst/>
                <a:latin typeface="gg sans"/>
              </a:rPr>
              <a:t>Key Responsibilities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516980-AA20-4ED5-8792-72441BEFB98E}"/>
              </a:ext>
            </a:extLst>
          </p:cNvPr>
          <p:cNvSpPr txBox="1"/>
          <p:nvPr/>
        </p:nvSpPr>
        <p:spPr>
          <a:xfrm>
            <a:off x="5610687" y="1766778"/>
            <a:ext cx="6294269" cy="263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Designing and managing the full data pipeline (collection, cleaning, preprocessing).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Developing, training, and optimizing the gesture recognition model.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Implementing the real-time detection and action‑triggering system.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Ensuring system reliability through testing, debugging, and monitoring.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gg sans"/>
              </a:rPr>
              <a:t>Documenting the workflow and ensuring code maintainability.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18048-E9CD-4FDD-A432-00CBF7C19E34}"/>
              </a:ext>
            </a:extLst>
          </p:cNvPr>
          <p:cNvSpPr txBox="1"/>
          <p:nvPr/>
        </p:nvSpPr>
        <p:spPr>
          <a:xfrm>
            <a:off x="142042" y="4003875"/>
            <a:ext cx="3595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i="0" dirty="0">
                <a:solidFill>
                  <a:srgbClr val="336EA8"/>
                </a:solidFill>
                <a:effectLst/>
                <a:latin typeface="gg sans"/>
              </a:rPr>
              <a:t>Collaboration Methods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402C1E-B248-4B14-8C8F-DBC1B3F44145}"/>
              </a:ext>
            </a:extLst>
          </p:cNvPr>
          <p:cNvSpPr txBox="1"/>
          <p:nvPr/>
        </p:nvSpPr>
        <p:spPr>
          <a:xfrm>
            <a:off x="612372" y="4728238"/>
            <a:ext cx="8789080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Version Control:</a:t>
            </a:r>
            <a:r>
              <a:rPr lang="en-US" sz="1600" b="0" i="0" dirty="0">
                <a:effectLst/>
                <a:latin typeface="gg sans"/>
              </a:rPr>
              <a:t> Git/GitHub for code sharing and repository management.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Communication:</a:t>
            </a:r>
            <a:r>
              <a:rPr lang="en-US" sz="1600" b="0" i="0" dirty="0">
                <a:effectLst/>
                <a:latin typeface="gg sans"/>
              </a:rPr>
              <a:t> Team coordination through messaging apps and meetings.(e.g. </a:t>
            </a:r>
            <a:r>
              <a:rPr lang="en-US" sz="1600" b="0" i="0" dirty="0" err="1">
                <a:effectLst/>
                <a:latin typeface="gg sans"/>
              </a:rPr>
              <a:t>Whatsapp</a:t>
            </a:r>
            <a:r>
              <a:rPr lang="en-US" sz="1600" dirty="0">
                <a:latin typeface="gg sans"/>
              </a:rPr>
              <a:t>, Discord)</a:t>
            </a:r>
            <a:endParaRPr lang="en-US" sz="1600" b="0" i="0" dirty="0">
              <a:effectLst/>
              <a:latin typeface="gg san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gg sans"/>
              </a:rPr>
              <a:t>Workflow:</a:t>
            </a:r>
            <a:r>
              <a:rPr lang="en-US" sz="1600" b="0" i="0" dirty="0">
                <a:effectLst/>
                <a:latin typeface="gg sans"/>
              </a:rPr>
              <a:t> Agile approach with task division and iterative updates.</a:t>
            </a:r>
          </a:p>
        </p:txBody>
      </p:sp>
    </p:spTree>
    <p:extLst>
      <p:ext uri="{BB962C8B-B14F-4D97-AF65-F5344CB8AC3E}">
        <p14:creationId xmlns:p14="http://schemas.microsoft.com/office/powerpoint/2010/main" val="424840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CAF39-AEFA-4EA4-9EE9-2CBC526D07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2A65B-BDF1-4E24-B4B1-F0DDA3863F09}"/>
              </a:ext>
            </a:extLst>
          </p:cNvPr>
          <p:cNvSpPr txBox="1"/>
          <p:nvPr/>
        </p:nvSpPr>
        <p:spPr>
          <a:xfrm>
            <a:off x="3481803" y="2705725"/>
            <a:ext cx="52283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8800" b="0" i="0" dirty="0">
                <a:solidFill>
                  <a:srgbClr val="047954"/>
                </a:solidFill>
                <a:effectLst/>
                <a:latin typeface="gg sans"/>
              </a:rPr>
              <a:t>Thank You</a:t>
            </a:r>
          </a:p>
        </p:txBody>
      </p:sp>
      <p:pic>
        <p:nvPicPr>
          <p:cNvPr id="7" name="Google Shape;110;p1">
            <a:extLst>
              <a:ext uri="{FF2B5EF4-FFF2-40B4-BE49-F238E27FC236}">
                <a16:creationId xmlns:a16="http://schemas.microsoft.com/office/drawing/2014/main" id="{0D5B659A-2072-4413-9306-3E3810187034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5;p11">
            <a:extLst>
              <a:ext uri="{FF2B5EF4-FFF2-40B4-BE49-F238E27FC236}">
                <a16:creationId xmlns:a16="http://schemas.microsoft.com/office/drawing/2014/main" id="{9CA36108-B917-4496-A6BA-9590B8BEF1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</p:spTree>
    <p:extLst>
      <p:ext uri="{BB962C8B-B14F-4D97-AF65-F5344CB8AC3E}">
        <p14:creationId xmlns:p14="http://schemas.microsoft.com/office/powerpoint/2010/main" val="352331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4FC34-6329-440A-92BA-D80FF4C89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6BAFF-F73A-4A2F-ADC8-908143642308}"/>
              </a:ext>
            </a:extLst>
          </p:cNvPr>
          <p:cNvSpPr txBox="1"/>
          <p:nvPr/>
        </p:nvSpPr>
        <p:spPr>
          <a:xfrm>
            <a:off x="2774086" y="2767280"/>
            <a:ext cx="66438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8000" b="0" i="0" dirty="0">
                <a:solidFill>
                  <a:srgbClr val="D7B119"/>
                </a:solidFill>
                <a:effectLst/>
                <a:latin typeface="gg sans"/>
              </a:rPr>
              <a:t>Any Questions?</a:t>
            </a:r>
          </a:p>
        </p:txBody>
      </p:sp>
      <p:sp>
        <p:nvSpPr>
          <p:cNvPr id="7" name="Google Shape;215;p11">
            <a:extLst>
              <a:ext uri="{FF2B5EF4-FFF2-40B4-BE49-F238E27FC236}">
                <a16:creationId xmlns:a16="http://schemas.microsoft.com/office/drawing/2014/main" id="{379CEF67-D556-440D-B136-28AFE1AD15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11/30/25</a:t>
            </a:r>
          </a:p>
        </p:txBody>
      </p:sp>
      <p:pic>
        <p:nvPicPr>
          <p:cNvPr id="8" name="Google Shape;110;p1">
            <a:extLst>
              <a:ext uri="{FF2B5EF4-FFF2-40B4-BE49-F238E27FC236}">
                <a16:creationId xmlns:a16="http://schemas.microsoft.com/office/drawing/2014/main" id="{4DA0E285-4D95-491F-B933-6FDA06074BA4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04889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1084</Words>
  <Application>Microsoft Office PowerPoint</Application>
  <PresentationFormat>Widescreen</PresentationFormat>
  <Paragraphs>134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gg sans</vt:lpstr>
      <vt:lpstr>1_Office Theme</vt:lpstr>
      <vt:lpstr>Real-Time Hand Gesture Recognition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Hand Gesture Recognition </dc:title>
  <dc:creator>احمد محمد احمد البدوى عبدالجواد</dc:creator>
  <cp:lastModifiedBy>احمد محمد احمد البدوى عبدالجواد</cp:lastModifiedBy>
  <cp:revision>27</cp:revision>
  <dcterms:created xsi:type="dcterms:W3CDTF">2025-11-29T18:00:24Z</dcterms:created>
  <dcterms:modified xsi:type="dcterms:W3CDTF">2025-11-30T18:33:23Z</dcterms:modified>
</cp:coreProperties>
</file>