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4"/>
  </p:notesMasterIdLst>
  <p:sldIdLst>
    <p:sldId id="261" r:id="rId2"/>
    <p:sldId id="268" r:id="rId3"/>
    <p:sldId id="264" r:id="rId4"/>
    <p:sldId id="270" r:id="rId5"/>
    <p:sldId id="271" r:id="rId6"/>
    <p:sldId id="266" r:id="rId7"/>
    <p:sldId id="272" r:id="rId8"/>
    <p:sldId id="273" r:id="rId9"/>
    <p:sldId id="274" r:id="rId10"/>
    <p:sldId id="275" r:id="rId11"/>
    <p:sldId id="276" r:id="rId12"/>
    <p:sldId id="27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6EA8"/>
    <a:srgbClr val="D7B119"/>
    <a:srgbClr val="047954"/>
    <a:srgbClr val="0FAB7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6" d="100"/>
          <a:sy n="86" d="100"/>
        </p:scale>
        <p:origin x="533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D9D154-8436-422E-99FF-ED81E8BCA54E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C6D4F7-3DFF-407D-85C2-5FD9441A14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79977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8" name="Google Shape;158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1" name="Google Shape;221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89" name="Google Shape;189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2" name="Google Shape;212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4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848264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15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5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7" name="Google Shape;27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15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211715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6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6034414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Title and Content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1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8" name="Google Shape;38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7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40" name="Google Shape;40;p1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11512" y="330213"/>
            <a:ext cx="1284576" cy="637759"/>
          </a:xfrm>
          <a:prstGeom prst="rect">
            <a:avLst/>
          </a:prstGeom>
          <a:noFill/>
          <a:ln>
            <a:noFill/>
          </a:ln>
        </p:spPr>
      </p:pic>
      <p:pic>
        <p:nvPicPr>
          <p:cNvPr id="41" name="Google Shape;41;p1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3317" y="0"/>
            <a:ext cx="1489765" cy="1386637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Google Shape;42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254994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Google Shape;44;p1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635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5" name="Google Shape;45;p1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711512" y="330213"/>
            <a:ext cx="1284576" cy="637759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Google Shape;46;p18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8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48" name="Google Shape;48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8"/>
          <p:cNvSpPr/>
          <p:nvPr/>
        </p:nvSpPr>
        <p:spPr>
          <a:xfrm>
            <a:off x="838200" y="6338919"/>
            <a:ext cx="2743200" cy="382556"/>
          </a:xfrm>
          <a:custGeom>
            <a:avLst/>
            <a:gdLst/>
            <a:ahLst/>
            <a:cxnLst/>
            <a:rect l="l" t="t" r="r" b="b"/>
            <a:pathLst>
              <a:path w="1026026" h="189485" extrusionOk="0">
                <a:moveTo>
                  <a:pt x="0" y="0"/>
                </a:moveTo>
                <a:lnTo>
                  <a:pt x="1026026" y="0"/>
                </a:lnTo>
                <a:lnTo>
                  <a:pt x="1026026" y="189485"/>
                </a:lnTo>
                <a:lnTo>
                  <a:pt x="0" y="189485"/>
                </a:lnTo>
                <a:close/>
              </a:path>
            </a:pathLst>
          </a:custGeom>
          <a:solidFill>
            <a:srgbClr val="1869A6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18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51" name="Google Shape;51;p1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3317" y="0"/>
            <a:ext cx="1489765" cy="1386637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8"/>
          <p:cNvSpPr/>
          <p:nvPr/>
        </p:nvSpPr>
        <p:spPr>
          <a:xfrm>
            <a:off x="10933155" y="6344015"/>
            <a:ext cx="466090" cy="431923"/>
          </a:xfrm>
          <a:custGeom>
            <a:avLst/>
            <a:gdLst/>
            <a:ahLst/>
            <a:cxnLst/>
            <a:rect l="l" t="t" r="r" b="b"/>
            <a:pathLst>
              <a:path w="1026026" h="189485" extrusionOk="0">
                <a:moveTo>
                  <a:pt x="0" y="0"/>
                </a:moveTo>
                <a:lnTo>
                  <a:pt x="1026026" y="0"/>
                </a:lnTo>
                <a:lnTo>
                  <a:pt x="1026026" y="189485"/>
                </a:lnTo>
                <a:lnTo>
                  <a:pt x="0" y="189485"/>
                </a:lnTo>
                <a:close/>
              </a:path>
            </a:pathLst>
          </a:custGeom>
          <a:solidFill>
            <a:srgbClr val="1869A6"/>
          </a:solidFill>
          <a:ln>
            <a:noFill/>
          </a:ln>
        </p:spPr>
      </p:sp>
      <p:sp>
        <p:nvSpPr>
          <p:cNvPr id="53" name="Google Shape;53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956810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 Conten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7" name="Google Shape;57;p19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8" name="Google Shape;58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9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342624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Comparison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0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0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64" name="Google Shape;64;p20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5" name="Google Shape;65;p20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66" name="Google Shape;66;p20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7" name="Google Shape;67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0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318425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Content with Caption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21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1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73" name="Google Shape;73;p21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4" name="Google Shape;74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21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767809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 with Caption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2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80" name="Google Shape;80;p22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81" name="Google Shape;81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22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665018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Title and Vertical Text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2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23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7" name="Google Shape;87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23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451051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 Title and Text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4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24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3" name="Google Shape;93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24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60925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">
  <p:cSld name="Custom Layout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9" name="Google Shape;99;p25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0" name="Google Shape;100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792517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13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11;p13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10711512" y="330213"/>
            <a:ext cx="1284576" cy="637759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13"/>
          <p:cNvSpPr/>
          <p:nvPr/>
        </p:nvSpPr>
        <p:spPr>
          <a:xfrm>
            <a:off x="838200" y="6338919"/>
            <a:ext cx="2743200" cy="382556"/>
          </a:xfrm>
          <a:custGeom>
            <a:avLst/>
            <a:gdLst/>
            <a:ahLst/>
            <a:cxnLst/>
            <a:rect l="l" t="t" r="r" b="b"/>
            <a:pathLst>
              <a:path w="1026026" h="189485" extrusionOk="0">
                <a:moveTo>
                  <a:pt x="0" y="0"/>
                </a:moveTo>
                <a:lnTo>
                  <a:pt x="1026026" y="0"/>
                </a:lnTo>
                <a:lnTo>
                  <a:pt x="1026026" y="189485"/>
                </a:lnTo>
                <a:lnTo>
                  <a:pt x="0" y="189485"/>
                </a:lnTo>
                <a:close/>
              </a:path>
            </a:pathLst>
          </a:custGeom>
          <a:solidFill>
            <a:srgbClr val="1869A6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3" name="Google Shape;13;p13"/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93317" y="0"/>
            <a:ext cx="1489765" cy="1386637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13"/>
          <p:cNvSpPr/>
          <p:nvPr/>
        </p:nvSpPr>
        <p:spPr>
          <a:xfrm>
            <a:off x="10974189" y="6344015"/>
            <a:ext cx="466090" cy="431923"/>
          </a:xfrm>
          <a:custGeom>
            <a:avLst/>
            <a:gdLst/>
            <a:ahLst/>
            <a:cxnLst/>
            <a:rect l="l" t="t" r="r" b="b"/>
            <a:pathLst>
              <a:path w="1026026" h="189485" extrusionOk="0">
                <a:moveTo>
                  <a:pt x="0" y="0"/>
                </a:moveTo>
                <a:lnTo>
                  <a:pt x="1026026" y="0"/>
                </a:lnTo>
                <a:lnTo>
                  <a:pt x="1026026" y="189485"/>
                </a:lnTo>
                <a:lnTo>
                  <a:pt x="0" y="189485"/>
                </a:lnTo>
                <a:close/>
              </a:path>
            </a:pathLst>
          </a:custGeom>
          <a:solidFill>
            <a:srgbClr val="1869A6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" name="Google Shape;15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6" name="Google Shape;16;p1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7" name="Google Shape;17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8" name="Google Shape;18;p13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" name="Google Shape;19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153203323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6"/>
          <p:cNvSpPr txBox="1">
            <a:spLocks noGrp="1"/>
          </p:cNvSpPr>
          <p:nvPr>
            <p:ph type="ctrTitle"/>
          </p:nvPr>
        </p:nvSpPr>
        <p:spPr>
          <a:xfrm>
            <a:off x="1524000" y="2235200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r>
              <a:rPr lang="en-US" dirty="0">
                <a:solidFill>
                  <a:srgbClr val="0FAB7D"/>
                </a:solidFill>
                <a:effectLst/>
              </a:rPr>
              <a:t>Real-Time</a:t>
            </a:r>
            <a:br>
              <a:rPr lang="en-US" dirty="0">
                <a:solidFill>
                  <a:srgbClr val="0FAB7D"/>
                </a:solidFill>
                <a:effectLst/>
              </a:rPr>
            </a:br>
            <a:r>
              <a:rPr lang="en-US" sz="5300" dirty="0">
                <a:solidFill>
                  <a:srgbClr val="0FAB7D"/>
                </a:solidFill>
                <a:effectLst/>
              </a:rPr>
              <a:t>Hand Gesture Recognition</a:t>
            </a:r>
            <a:br>
              <a:rPr lang="en-US" dirty="0">
                <a:effectLst/>
              </a:rPr>
            </a:br>
            <a:endParaRPr dirty="0"/>
          </a:p>
        </p:txBody>
      </p:sp>
      <p:sp>
        <p:nvSpPr>
          <p:cNvPr id="161" name="Google Shape;161;p6"/>
          <p:cNvSpPr txBox="1">
            <a:spLocks noGrp="1"/>
          </p:cNvSpPr>
          <p:nvPr>
            <p:ph type="subTitle" idx="1"/>
          </p:nvPr>
        </p:nvSpPr>
        <p:spPr>
          <a:xfrm>
            <a:off x="1524000" y="5191143"/>
            <a:ext cx="9144000" cy="819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indent="0">
              <a:spcBef>
                <a:spcPts val="0"/>
              </a:spcBef>
            </a:pPr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Presenter Name: </a:t>
            </a:r>
            <a:r>
              <a:rPr lang="en-US" sz="2200" i="0" dirty="0"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Abdelrahman Tarek Elsherbiny</a:t>
            </a:r>
            <a:endParaRPr lang="en-US" sz="2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Date: </a:t>
            </a:r>
            <a:r>
              <a:rPr lang="en-US" sz="2200" dirty="0">
                <a:latin typeface="Calibri" panose="020F0502020204030204" pitchFamily="34" charset="0"/>
                <a:cs typeface="Calibri" panose="020F0502020204030204" pitchFamily="34" charset="0"/>
              </a:rPr>
              <a:t>11/30/25</a:t>
            </a:r>
            <a:endParaRPr sz="22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62" name="Google Shape;162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cs typeface="Calibri"/>
                <a:sym typeface="Calibri"/>
              </a:rPr>
              <a:t>11/30/25</a:t>
            </a:r>
          </a:p>
        </p:txBody>
      </p:sp>
      <p:sp>
        <p:nvSpPr>
          <p:cNvPr id="164" name="Google Shape;164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cs typeface="Calibri"/>
                <a:sym typeface="Calibri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</a:t>
            </a:fld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cs typeface="Calibri"/>
              <a:sym typeface="Calibri"/>
            </a:endParaRPr>
          </a:p>
        </p:txBody>
      </p:sp>
      <p:pic>
        <p:nvPicPr>
          <p:cNvPr id="2" name="Google Shape;110;p1">
            <a:extLst>
              <a:ext uri="{FF2B5EF4-FFF2-40B4-BE49-F238E27FC236}">
                <a16:creationId xmlns:a16="http://schemas.microsoft.com/office/drawing/2014/main" id="{D76960BE-DA68-AD54-037E-4185C12CA702}"/>
              </a:ext>
            </a:extLst>
          </p:cNvPr>
          <p:cNvPicPr preferRelativeResize="0"/>
          <p:nvPr/>
        </p:nvPicPr>
        <p:blipFill>
          <a:blip r:embed="rId3"/>
          <a:srcRect/>
          <a:stretch/>
        </p:blipFill>
        <p:spPr>
          <a:xfrm>
            <a:off x="9010943" y="6291124"/>
            <a:ext cx="1362250" cy="365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cs typeface="Calibri"/>
                <a:sym typeface="Calibri"/>
              </a:rPr>
              <a:t>11/30/25</a:t>
            </a:r>
          </a:p>
        </p:txBody>
      </p:sp>
      <p:sp>
        <p:nvSpPr>
          <p:cNvPr id="225" name="Google Shape;225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cs typeface="Calibri"/>
                <a:sym typeface="Calibri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2</a:t>
            </a:fld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cs typeface="Calibri"/>
              <a:sym typeface="Calibri"/>
            </a:endParaRPr>
          </a:p>
        </p:txBody>
      </p:sp>
      <p:pic>
        <p:nvPicPr>
          <p:cNvPr id="2" name="Google Shape;110;p1">
            <a:extLst>
              <a:ext uri="{FF2B5EF4-FFF2-40B4-BE49-F238E27FC236}">
                <a16:creationId xmlns:a16="http://schemas.microsoft.com/office/drawing/2014/main" id="{58C33320-60ED-A251-AB49-C1349DCD930A}"/>
              </a:ext>
            </a:extLst>
          </p:cNvPr>
          <p:cNvPicPr preferRelativeResize="0"/>
          <p:nvPr/>
        </p:nvPicPr>
        <p:blipFill>
          <a:blip r:embed="rId3"/>
          <a:srcRect/>
          <a:stretch/>
        </p:blipFill>
        <p:spPr>
          <a:xfrm>
            <a:off x="9010943" y="6291124"/>
            <a:ext cx="1362250" cy="365125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5ADCDB5-DB26-41A3-88F5-0F3B2AEEE89C}"/>
              </a:ext>
            </a:extLst>
          </p:cNvPr>
          <p:cNvSpPr txBox="1"/>
          <p:nvPr/>
        </p:nvSpPr>
        <p:spPr>
          <a:xfrm>
            <a:off x="142043" y="1238595"/>
            <a:ext cx="21839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0" i="0" dirty="0">
                <a:solidFill>
                  <a:srgbClr val="336EA8"/>
                </a:solidFill>
                <a:effectLst/>
                <a:latin typeface="gg sans"/>
              </a:rPr>
              <a:t>The Problem</a:t>
            </a:r>
            <a:endParaRPr lang="en-US" sz="2800" dirty="0">
              <a:solidFill>
                <a:srgbClr val="336EA8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0744421-5841-4412-93E7-328D7AE81361}"/>
              </a:ext>
            </a:extLst>
          </p:cNvPr>
          <p:cNvSpPr txBox="1"/>
          <p:nvPr/>
        </p:nvSpPr>
        <p:spPr>
          <a:xfrm>
            <a:off x="324033" y="1838007"/>
            <a:ext cx="112169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effectLst/>
                <a:latin typeface="gg sans"/>
              </a:rPr>
              <a:t>Traditional computer interaction depends heavily on physical devices like keyboards and mice, which limit accessibility, reduce hygiene in shared environments, and restrict hands-free control.</a:t>
            </a:r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2A7D5A9-04E9-4237-B442-46FC24D1A556}"/>
              </a:ext>
            </a:extLst>
          </p:cNvPr>
          <p:cNvSpPr txBox="1"/>
          <p:nvPr/>
        </p:nvSpPr>
        <p:spPr>
          <a:xfrm>
            <a:off x="142042" y="2832186"/>
            <a:ext cx="203298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0" i="0" dirty="0">
                <a:solidFill>
                  <a:srgbClr val="336EA8"/>
                </a:solidFill>
                <a:effectLst/>
                <a:latin typeface="gg sans"/>
              </a:rPr>
              <a:t>The Solution</a:t>
            </a:r>
            <a:endParaRPr lang="en-US" sz="2800" dirty="0">
              <a:solidFill>
                <a:srgbClr val="336EA8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2F4FAF5-C965-45CC-A4D7-90985C620ADB}"/>
              </a:ext>
            </a:extLst>
          </p:cNvPr>
          <p:cNvSpPr txBox="1"/>
          <p:nvPr/>
        </p:nvSpPr>
        <p:spPr>
          <a:xfrm>
            <a:off x="363984" y="3363874"/>
            <a:ext cx="1121693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effectLst/>
                <a:latin typeface="gg sans"/>
              </a:rPr>
              <a:t>A real-time hand gesture recognition system that interprets static hand poses using a standard webcam and converts them into interactive commands for navigation, media control, and general computer interaction.</a:t>
            </a: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B54A756-288A-4F98-B5BE-02F254C7C999}"/>
              </a:ext>
            </a:extLst>
          </p:cNvPr>
          <p:cNvSpPr txBox="1"/>
          <p:nvPr/>
        </p:nvSpPr>
        <p:spPr>
          <a:xfrm>
            <a:off x="142042" y="4308662"/>
            <a:ext cx="38884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0" i="0" dirty="0">
                <a:solidFill>
                  <a:srgbClr val="336EA8"/>
                </a:solidFill>
                <a:effectLst/>
                <a:latin typeface="gg sans"/>
              </a:rPr>
              <a:t>Unique Value Proposition</a:t>
            </a:r>
            <a:endParaRPr lang="en-US" sz="2800" dirty="0">
              <a:solidFill>
                <a:srgbClr val="336EA8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38A89B5-C1DE-4148-B886-9450D1E74DF4}"/>
              </a:ext>
            </a:extLst>
          </p:cNvPr>
          <p:cNvSpPr txBox="1"/>
          <p:nvPr/>
        </p:nvSpPr>
        <p:spPr>
          <a:xfrm>
            <a:off x="363984" y="4922270"/>
            <a:ext cx="1117698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effectLst/>
                <a:latin typeface="gg sans"/>
              </a:rPr>
              <a:t>Unlike generic vision-based systems, our approach uses lightweight landmark extraction, a custom-built dataset, and optimized real-time processing — enabling accurate, fast, touch-free control on everyday hardware without the need for specialized sensors.</a:t>
            </a:r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cs typeface="Calibri"/>
                <a:sym typeface="Calibri"/>
              </a:rPr>
              <a:t>11/30/25</a:t>
            </a:r>
          </a:p>
        </p:txBody>
      </p:sp>
      <p:sp>
        <p:nvSpPr>
          <p:cNvPr id="194" name="Google Shape;194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cs typeface="Calibri"/>
                <a:sym typeface="Calibri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3</a:t>
            </a:fld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cs typeface="Calibri"/>
              <a:sym typeface="Calibri"/>
            </a:endParaRPr>
          </a:p>
        </p:txBody>
      </p:sp>
      <p:pic>
        <p:nvPicPr>
          <p:cNvPr id="195" name="Google Shape;195;p9"/>
          <p:cNvPicPr preferRelativeResize="0"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81" r="9081"/>
          <a:stretch/>
        </p:blipFill>
        <p:spPr>
          <a:xfrm>
            <a:off x="260605" y="1932029"/>
            <a:ext cx="4218798" cy="2871465"/>
          </a:xfrm>
          <a:prstGeom prst="snip2DiagRect">
            <a:avLst>
              <a:gd name="adj1" fmla="val 0"/>
              <a:gd name="adj2" fmla="val 16667"/>
            </a:avLst>
          </a:prstGeom>
          <a:solidFill>
            <a:srgbClr val="ECECEC"/>
          </a:solidFill>
          <a:ln w="88900" cap="sq" cmpd="sng">
            <a:solidFill>
              <a:srgbClr val="336EA8"/>
            </a:solidFill>
            <a:prstDash val="solid"/>
            <a:miter lim="800000"/>
            <a:headEnd type="none" w="sm" len="sm"/>
            <a:tailEnd type="none" w="sm" len="sm"/>
          </a:ln>
          <a:effectLst>
            <a:outerShdw blurRad="88900" algn="tl" rotWithShape="0">
              <a:srgbClr val="000000">
                <a:alpha val="44705"/>
              </a:srgbClr>
            </a:outerShdw>
          </a:effectLst>
        </p:spPr>
      </p:pic>
      <p:pic>
        <p:nvPicPr>
          <p:cNvPr id="2" name="Google Shape;110;p1">
            <a:extLst>
              <a:ext uri="{FF2B5EF4-FFF2-40B4-BE49-F238E27FC236}">
                <a16:creationId xmlns:a16="http://schemas.microsoft.com/office/drawing/2014/main" id="{C325A2E1-EEF7-90FC-497A-243250923499}"/>
              </a:ext>
            </a:extLst>
          </p:cNvPr>
          <p:cNvPicPr preferRelativeResize="0"/>
          <p:nvPr/>
        </p:nvPicPr>
        <p:blipFill>
          <a:blip r:embed="rId4"/>
          <a:srcRect/>
          <a:stretch/>
        </p:blipFill>
        <p:spPr>
          <a:xfrm>
            <a:off x="9010943" y="6291124"/>
            <a:ext cx="1362250" cy="365125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1EEFB4E-14BC-48C7-AC39-1E95690C3A7D}"/>
              </a:ext>
            </a:extLst>
          </p:cNvPr>
          <p:cNvSpPr txBox="1"/>
          <p:nvPr/>
        </p:nvSpPr>
        <p:spPr>
          <a:xfrm>
            <a:off x="5344356" y="1408809"/>
            <a:ext cx="308055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i="0" dirty="0">
                <a:solidFill>
                  <a:srgbClr val="336EA8"/>
                </a:solidFill>
                <a:effectLst/>
                <a:latin typeface="gg sans"/>
                <a:ea typeface="Arial" panose="020B0604020202020204" pitchFamily="34" charset="0"/>
                <a:cs typeface="Arial" panose="020B0604020202020204" pitchFamily="34" charset="0"/>
              </a:rPr>
              <a:t>Project Wireframe</a:t>
            </a:r>
            <a:endParaRPr lang="en-US" sz="2800" dirty="0">
              <a:solidFill>
                <a:srgbClr val="336EA8"/>
              </a:solidFill>
              <a:latin typeface="gg san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677A6B9-D41D-4F8F-A901-74B0738BB670}"/>
              </a:ext>
            </a:extLst>
          </p:cNvPr>
          <p:cNvSpPr txBox="1"/>
          <p:nvPr/>
        </p:nvSpPr>
        <p:spPr>
          <a:xfrm>
            <a:off x="5563340" y="2074844"/>
            <a:ext cx="609452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600" b="1" i="0" dirty="0">
                <a:effectLst/>
                <a:latin typeface="gg sans"/>
              </a:rPr>
              <a:t>Key UI Elements</a:t>
            </a:r>
            <a:endParaRPr lang="en-US" sz="1600" b="0" i="0" dirty="0">
              <a:effectLst/>
              <a:latin typeface="gg sans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600" b="1" i="0" dirty="0">
                <a:effectLst/>
                <a:latin typeface="gg sans"/>
              </a:rPr>
              <a:t>Live Camera Feed:</a:t>
            </a:r>
            <a:r>
              <a:rPr lang="en-US" sz="1600" b="0" i="0" dirty="0">
                <a:effectLst/>
                <a:latin typeface="gg sans"/>
              </a:rPr>
              <a:t> Displays real-time hand tracking and gesture recognition.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600" b="1" i="0" dirty="0">
                <a:effectLst/>
                <a:latin typeface="gg sans"/>
              </a:rPr>
              <a:t>Prediction Panel:</a:t>
            </a:r>
            <a:r>
              <a:rPr lang="en-US" sz="1600" b="0" i="0" dirty="0">
                <a:effectLst/>
                <a:latin typeface="gg sans"/>
              </a:rPr>
              <a:t> Shows the detected gesture and confidence level clearly and instantly.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600" b="1" i="0" dirty="0">
                <a:effectLst/>
                <a:latin typeface="gg sans"/>
              </a:rPr>
              <a:t>Control Status Indicators:</a:t>
            </a:r>
            <a:r>
              <a:rPr lang="en-US" sz="1600" b="0" i="0" dirty="0">
                <a:effectLst/>
                <a:latin typeface="gg sans"/>
              </a:rPr>
              <a:t> Visual cues highlighting which actions (mouse movement, scrolling, media control) are currently active.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600" b="1" i="0" dirty="0">
                <a:effectLst/>
                <a:latin typeface="gg sans"/>
              </a:rPr>
              <a:t>Start/Stop Controls:</a:t>
            </a:r>
            <a:r>
              <a:rPr lang="en-US" sz="1600" b="0" i="0" dirty="0">
                <a:effectLst/>
                <a:latin typeface="gg sans"/>
              </a:rPr>
              <a:t> Easy access buttons to activate or deactivate gesture detection.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5C98B6-DEEB-487A-BD78-CF2177EC1E50}"/>
              </a:ext>
            </a:extLst>
          </p:cNvPr>
          <p:cNvSpPr txBox="1"/>
          <p:nvPr/>
        </p:nvSpPr>
        <p:spPr>
          <a:xfrm>
            <a:off x="5563340" y="4584929"/>
            <a:ext cx="609452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600" b="1" i="0" dirty="0">
                <a:effectLst/>
                <a:latin typeface="gg sans"/>
              </a:rPr>
              <a:t>User Experience Focus</a:t>
            </a:r>
            <a:br>
              <a:rPr lang="en-US" sz="1600" b="0" i="0" dirty="0">
                <a:effectLst/>
                <a:latin typeface="gg sans"/>
              </a:rPr>
            </a:br>
            <a:r>
              <a:rPr lang="en-US" sz="1600" b="0" i="0" dirty="0">
                <a:effectLst/>
                <a:latin typeface="gg sans"/>
              </a:rPr>
              <a:t>The interface prioritizes simplicity and clarity, ensuring users can interact with the system effortlessly. Clear visual feedback enhance usability and accessibility.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3DF07D-18A6-4E8A-AE85-1E59776C00D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4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707C097-8463-4ED9-A753-A94C72BEE446}"/>
              </a:ext>
            </a:extLst>
          </p:cNvPr>
          <p:cNvSpPr txBox="1"/>
          <p:nvPr/>
        </p:nvSpPr>
        <p:spPr>
          <a:xfrm>
            <a:off x="355106" y="1761815"/>
            <a:ext cx="8078681" cy="15298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b="1" i="0" dirty="0">
                <a:effectLst/>
                <a:latin typeface="gg sans"/>
              </a:rPr>
              <a:t>Individuals</a:t>
            </a:r>
            <a:r>
              <a:rPr lang="en-US" sz="1600" b="0" i="0" dirty="0">
                <a:effectLst/>
                <a:latin typeface="gg sans"/>
              </a:rPr>
              <a:t> seeking hands-free computer control for convenience or accessibility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b="0" i="0" dirty="0">
                <a:effectLst/>
                <a:latin typeface="gg sans"/>
              </a:rPr>
              <a:t> </a:t>
            </a:r>
            <a:r>
              <a:rPr lang="en-US" sz="1600" b="1" i="0" dirty="0">
                <a:effectLst/>
                <a:latin typeface="gg sans"/>
              </a:rPr>
              <a:t>Businesses &amp; presenters </a:t>
            </a:r>
            <a:r>
              <a:rPr lang="en-US" sz="1600" b="0" i="0" dirty="0">
                <a:effectLst/>
                <a:latin typeface="gg sans"/>
              </a:rPr>
              <a:t>needing touch-free navigation during meetings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b="1" i="0" dirty="0">
                <a:effectLst/>
                <a:latin typeface="gg sans"/>
              </a:rPr>
              <a:t>Media consumers </a:t>
            </a:r>
            <a:r>
              <a:rPr lang="en-US" sz="1600" b="0" i="0" dirty="0">
                <a:effectLst/>
                <a:latin typeface="gg sans"/>
              </a:rPr>
              <a:t>who want simple gesture-based playback control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b="1" i="0" dirty="0">
                <a:effectLst/>
                <a:latin typeface="gg sans"/>
              </a:rPr>
              <a:t>Developers &amp; researchers </a:t>
            </a:r>
            <a:r>
              <a:rPr lang="en-US" sz="1600" b="0" i="0" dirty="0">
                <a:effectLst/>
                <a:latin typeface="gg sans"/>
              </a:rPr>
              <a:t>exploring gesture-based interaction systems </a:t>
            </a:r>
            <a:endParaRPr lang="en-US" sz="16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F77C56E-FDC1-4C1D-9CFF-8C1BA8BD350C}"/>
              </a:ext>
            </a:extLst>
          </p:cNvPr>
          <p:cNvSpPr txBox="1"/>
          <p:nvPr/>
        </p:nvSpPr>
        <p:spPr>
          <a:xfrm>
            <a:off x="142042" y="1185327"/>
            <a:ext cx="35333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0" i="0" dirty="0">
                <a:solidFill>
                  <a:srgbClr val="336EA8"/>
                </a:solidFill>
                <a:effectLst/>
                <a:latin typeface="gg sans"/>
              </a:rPr>
              <a:t>Primary User Personas</a:t>
            </a:r>
            <a:endParaRPr lang="en-US" sz="2800" dirty="0">
              <a:solidFill>
                <a:srgbClr val="336EA8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3A18B2D-4ACB-4408-883B-738711958ECB}"/>
              </a:ext>
            </a:extLst>
          </p:cNvPr>
          <p:cNvSpPr txBox="1"/>
          <p:nvPr/>
        </p:nvSpPr>
        <p:spPr>
          <a:xfrm>
            <a:off x="142042" y="3411240"/>
            <a:ext cx="36398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0" i="0" dirty="0">
                <a:solidFill>
                  <a:srgbClr val="336EA8"/>
                </a:solidFill>
                <a:effectLst/>
                <a:latin typeface="gg sans"/>
              </a:rPr>
              <a:t>Key Features</a:t>
            </a:r>
            <a:endParaRPr lang="en-US" sz="2800" dirty="0">
              <a:solidFill>
                <a:srgbClr val="336EA8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823B6FB-0B70-4311-BDA6-F10B4E140CDE}"/>
              </a:ext>
            </a:extLst>
          </p:cNvPr>
          <p:cNvSpPr txBox="1"/>
          <p:nvPr/>
        </p:nvSpPr>
        <p:spPr>
          <a:xfrm>
            <a:off x="355106" y="3931815"/>
            <a:ext cx="4962618" cy="1899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b="1" i="0" dirty="0">
                <a:effectLst/>
                <a:latin typeface="gg sans"/>
              </a:rPr>
              <a:t>Real-time</a:t>
            </a:r>
            <a:r>
              <a:rPr lang="en-US" sz="1600" b="0" i="0" dirty="0">
                <a:effectLst/>
                <a:latin typeface="gg sans"/>
              </a:rPr>
              <a:t> static gesture recognition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b="0" i="0" dirty="0">
                <a:effectLst/>
                <a:latin typeface="gg sans"/>
              </a:rPr>
              <a:t>Mouse movement and scrolling using </a:t>
            </a:r>
            <a:r>
              <a:rPr lang="en-US" sz="1600" b="1" i="0" dirty="0">
                <a:effectLst/>
                <a:latin typeface="gg sans"/>
              </a:rPr>
              <a:t>hand motion</a:t>
            </a:r>
            <a:r>
              <a:rPr lang="en-US" sz="1600" b="0" i="0" dirty="0">
                <a:effectLst/>
                <a:latin typeface="gg sans"/>
              </a:rPr>
              <a:t>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b="1" i="0" dirty="0">
                <a:effectLst/>
                <a:latin typeface="gg sans"/>
              </a:rPr>
              <a:t>Media navigation</a:t>
            </a:r>
            <a:r>
              <a:rPr lang="en-US" sz="1600" b="0" i="0" dirty="0">
                <a:effectLst/>
                <a:latin typeface="gg sans"/>
              </a:rPr>
              <a:t> (next/previous track)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b="0" i="0" dirty="0">
                <a:effectLst/>
                <a:latin typeface="gg sans"/>
              </a:rPr>
              <a:t>Arrow-key and interface </a:t>
            </a:r>
            <a:r>
              <a:rPr lang="en-US" sz="1600" b="1" i="0" dirty="0">
                <a:effectLst/>
                <a:latin typeface="gg sans"/>
              </a:rPr>
              <a:t>navigation</a:t>
            </a:r>
            <a:r>
              <a:rPr lang="en-US" sz="1600" b="0" i="0" dirty="0">
                <a:effectLst/>
                <a:latin typeface="gg sans"/>
              </a:rPr>
              <a:t> through </a:t>
            </a:r>
            <a:r>
              <a:rPr lang="en-US" sz="1600" b="1" i="0" dirty="0">
                <a:effectLst/>
                <a:latin typeface="gg sans"/>
              </a:rPr>
              <a:t>gestures</a:t>
            </a:r>
            <a:r>
              <a:rPr lang="en-US" sz="1600" b="0" i="0" dirty="0">
                <a:effectLst/>
                <a:latin typeface="gg sans"/>
              </a:rPr>
              <a:t>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b="1" i="0" dirty="0" err="1">
                <a:effectLst/>
                <a:latin typeface="gg sans"/>
              </a:rPr>
              <a:t>Streamlit</a:t>
            </a:r>
            <a:r>
              <a:rPr lang="en-US" sz="1600" b="1" i="0" dirty="0">
                <a:effectLst/>
                <a:latin typeface="gg sans"/>
              </a:rPr>
              <a:t>-based</a:t>
            </a:r>
            <a:r>
              <a:rPr lang="en-US" sz="1600" b="0" i="0" dirty="0">
                <a:effectLst/>
                <a:latin typeface="gg sans"/>
              </a:rPr>
              <a:t> interface for easy access and testing</a:t>
            </a:r>
            <a:endParaRPr lang="en-US" sz="16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7B6B85B-1987-4DA4-9D92-D4DCC06551A1}"/>
              </a:ext>
            </a:extLst>
          </p:cNvPr>
          <p:cNvSpPr txBox="1"/>
          <p:nvPr/>
        </p:nvSpPr>
        <p:spPr>
          <a:xfrm>
            <a:off x="5205973" y="3429000"/>
            <a:ext cx="614782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0" i="0" dirty="0">
                <a:solidFill>
                  <a:srgbClr val="336EA8"/>
                </a:solidFill>
                <a:effectLst/>
                <a:latin typeface="gg sans"/>
              </a:rPr>
              <a:t>How These Features Solve User Problems</a:t>
            </a:r>
            <a:endParaRPr lang="en-US" sz="2800" dirty="0">
              <a:solidFill>
                <a:srgbClr val="336EA8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BC760B6-6A3D-4383-BEEA-706183B2BCD8}"/>
              </a:ext>
            </a:extLst>
          </p:cNvPr>
          <p:cNvSpPr txBox="1"/>
          <p:nvPr/>
        </p:nvSpPr>
        <p:spPr>
          <a:xfrm>
            <a:off x="5388853" y="4076663"/>
            <a:ext cx="6094520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i="0" dirty="0">
                <a:effectLst/>
                <a:latin typeface="gg sans"/>
              </a:rPr>
              <a:t>Individuals:</a:t>
            </a:r>
            <a:r>
              <a:rPr lang="en-US" sz="1600" b="0" i="0" dirty="0">
                <a:effectLst/>
                <a:latin typeface="gg sans"/>
              </a:rPr>
              <a:t> Gain seamless, touch-free control without relying on physical devices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i="0" dirty="0">
                <a:effectLst/>
                <a:latin typeface="gg sans"/>
              </a:rPr>
              <a:t>Businesses:</a:t>
            </a:r>
            <a:r>
              <a:rPr lang="en-US" sz="1600" b="0" i="0" dirty="0">
                <a:effectLst/>
                <a:latin typeface="gg sans"/>
              </a:rPr>
              <a:t> Improve flow and hygiene during presentations by navigating slides via gestures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i="0" dirty="0">
                <a:effectLst/>
                <a:latin typeface="gg sans"/>
              </a:rPr>
              <a:t>Media Users: </a:t>
            </a:r>
            <a:r>
              <a:rPr lang="en-US" sz="1600" b="0" i="0" dirty="0">
                <a:effectLst/>
                <a:latin typeface="gg sans"/>
              </a:rPr>
              <a:t>Control music playback effortlessly while multitasking or at a distance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i="0" dirty="0">
                <a:effectLst/>
                <a:latin typeface="gg sans"/>
              </a:rPr>
              <a:t>Developers:</a:t>
            </a:r>
            <a:r>
              <a:rPr lang="en-US" sz="1600" b="0" i="0" dirty="0">
                <a:effectLst/>
                <a:latin typeface="gg sans"/>
              </a:rPr>
              <a:t> Access a ready-to-use platform for prototyping gesture-based interfaces</a:t>
            </a:r>
            <a:endParaRPr lang="en-US" sz="1600" dirty="0"/>
          </a:p>
        </p:txBody>
      </p:sp>
      <p:pic>
        <p:nvPicPr>
          <p:cNvPr id="19" name="Google Shape;110;p1">
            <a:extLst>
              <a:ext uri="{FF2B5EF4-FFF2-40B4-BE49-F238E27FC236}">
                <a16:creationId xmlns:a16="http://schemas.microsoft.com/office/drawing/2014/main" id="{B130C2F5-2E68-4049-B0D2-52B601E7AB13}"/>
              </a:ext>
            </a:extLst>
          </p:cNvPr>
          <p:cNvPicPr preferRelativeResize="0"/>
          <p:nvPr/>
        </p:nvPicPr>
        <p:blipFill>
          <a:blip r:embed="rId2"/>
          <a:srcRect/>
          <a:stretch/>
        </p:blipFill>
        <p:spPr>
          <a:xfrm>
            <a:off x="9010943" y="6291124"/>
            <a:ext cx="1362250" cy="365125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Google Shape;223;p12">
            <a:extLst>
              <a:ext uri="{FF2B5EF4-FFF2-40B4-BE49-F238E27FC236}">
                <a16:creationId xmlns:a16="http://schemas.microsoft.com/office/drawing/2014/main" id="{10F0DC94-A6EA-43EC-827C-417E49539DD7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cs typeface="Calibri"/>
                <a:sym typeface="Calibri"/>
              </a:rPr>
              <a:t>11/30/25</a:t>
            </a:r>
          </a:p>
        </p:txBody>
      </p:sp>
    </p:spTree>
    <p:extLst>
      <p:ext uri="{BB962C8B-B14F-4D97-AF65-F5344CB8AC3E}">
        <p14:creationId xmlns:p14="http://schemas.microsoft.com/office/powerpoint/2010/main" val="33159787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7E418E-7015-4DF2-9E2C-214D2DA71BC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5</a:t>
            </a:fld>
            <a:endParaRPr lang="en-US"/>
          </a:p>
        </p:txBody>
      </p:sp>
      <p:pic>
        <p:nvPicPr>
          <p:cNvPr id="5" name="Google Shape;110;p1">
            <a:extLst>
              <a:ext uri="{FF2B5EF4-FFF2-40B4-BE49-F238E27FC236}">
                <a16:creationId xmlns:a16="http://schemas.microsoft.com/office/drawing/2014/main" id="{F81520D7-62EA-43C7-9656-A1838193ABEE}"/>
              </a:ext>
            </a:extLst>
          </p:cNvPr>
          <p:cNvPicPr preferRelativeResize="0"/>
          <p:nvPr/>
        </p:nvPicPr>
        <p:blipFill>
          <a:blip r:embed="rId2"/>
          <a:srcRect/>
          <a:stretch/>
        </p:blipFill>
        <p:spPr>
          <a:xfrm>
            <a:off x="9010943" y="6291124"/>
            <a:ext cx="1362250" cy="365125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223;p12">
            <a:extLst>
              <a:ext uri="{FF2B5EF4-FFF2-40B4-BE49-F238E27FC236}">
                <a16:creationId xmlns:a16="http://schemas.microsoft.com/office/drawing/2014/main" id="{71D2A11F-277D-4177-B184-8C76661F85AD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cs typeface="Calibri"/>
                <a:sym typeface="Calibri"/>
              </a:rPr>
              <a:t>11/30/25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9AF7E97-FCEC-44B7-87DE-FD484D3C63F9}"/>
              </a:ext>
            </a:extLst>
          </p:cNvPr>
          <p:cNvSpPr txBox="1"/>
          <p:nvPr/>
        </p:nvSpPr>
        <p:spPr>
          <a:xfrm>
            <a:off x="142042" y="1185327"/>
            <a:ext cx="233482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0" i="0" dirty="0">
                <a:solidFill>
                  <a:srgbClr val="336EA8"/>
                </a:solidFill>
                <a:effectLst/>
                <a:latin typeface="gg sans"/>
              </a:rPr>
              <a:t>Data Structure</a:t>
            </a:r>
            <a:endParaRPr lang="en-US" sz="2800" dirty="0">
              <a:solidFill>
                <a:srgbClr val="336EA8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975FB16-D13C-4B55-AD59-7F8AE0F6DA5E}"/>
              </a:ext>
            </a:extLst>
          </p:cNvPr>
          <p:cNvSpPr txBox="1"/>
          <p:nvPr/>
        </p:nvSpPr>
        <p:spPr>
          <a:xfrm>
            <a:off x="521561" y="1773773"/>
            <a:ext cx="11241352" cy="15298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b="0" i="0" dirty="0">
                <a:effectLst/>
                <a:latin typeface="gg sans"/>
              </a:rPr>
              <a:t>A custom data collection tool was used to capture gesture images from multiple users.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b="0" i="0" dirty="0">
                <a:effectLst/>
                <a:latin typeface="gg sans"/>
              </a:rPr>
              <a:t>Raw images were processed to extract 21 hand landmarks per frame using </a:t>
            </a:r>
            <a:r>
              <a:rPr lang="en-US" sz="1600" b="0" i="0" dirty="0" err="1">
                <a:effectLst/>
                <a:latin typeface="gg sans"/>
              </a:rPr>
              <a:t>MediaPipe</a:t>
            </a:r>
            <a:r>
              <a:rPr lang="en-US" sz="1600" b="0" i="0" dirty="0">
                <a:effectLst/>
                <a:latin typeface="gg sans"/>
              </a:rPr>
              <a:t>.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b="0" i="0" dirty="0">
                <a:effectLst/>
                <a:latin typeface="gg sans"/>
              </a:rPr>
              <a:t>Landmark coordinates were stored in a structured NPZ format for efficient training and reuse.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b="0" i="0" dirty="0">
                <a:effectLst/>
                <a:latin typeface="gg sans"/>
              </a:rPr>
              <a:t>The model was trained entirely on the extracted landmark data rather than raw images, reducing complexity and improving speed.</a:t>
            </a:r>
            <a:endParaRPr lang="en-US" sz="16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49BE407-3B6E-499C-BF32-3D1AD9FEB717}"/>
              </a:ext>
            </a:extLst>
          </p:cNvPr>
          <p:cNvSpPr txBox="1"/>
          <p:nvPr/>
        </p:nvSpPr>
        <p:spPr>
          <a:xfrm>
            <a:off x="142042" y="3532471"/>
            <a:ext cx="2614839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0" i="0" dirty="0">
                <a:solidFill>
                  <a:srgbClr val="336EA8"/>
                </a:solidFill>
                <a:effectLst/>
                <a:latin typeface="gg sans"/>
              </a:rPr>
              <a:t>Dataset Summary</a:t>
            </a:r>
            <a:endParaRPr lang="en-US" sz="2600" dirty="0">
              <a:solidFill>
                <a:srgbClr val="336EA8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31615ED-CE26-4905-8D74-9D7C6E681C97}"/>
              </a:ext>
            </a:extLst>
          </p:cNvPr>
          <p:cNvSpPr txBox="1"/>
          <p:nvPr/>
        </p:nvSpPr>
        <p:spPr>
          <a:xfrm>
            <a:off x="521561" y="4142593"/>
            <a:ext cx="315379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0" i="0" dirty="0">
                <a:effectLst/>
                <a:latin typeface="gg sans"/>
              </a:rPr>
              <a:t>10 gesture classes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0" i="0" dirty="0">
                <a:effectLst/>
                <a:latin typeface="gg sans"/>
              </a:rPr>
              <a:t>2,500 images per class Total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0" i="0" dirty="0">
                <a:effectLst/>
                <a:latin typeface="gg sans"/>
              </a:rPr>
              <a:t>26,000 images captured</a:t>
            </a: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D354E6-4A98-4D6D-9F7E-20BBFF43C1AE}"/>
              </a:ext>
            </a:extLst>
          </p:cNvPr>
          <p:cNvSpPr txBox="1"/>
          <p:nvPr/>
        </p:nvSpPr>
        <p:spPr>
          <a:xfrm>
            <a:off x="383959" y="5222445"/>
            <a:ext cx="433008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effectLst/>
                <a:latin typeface="gg sans"/>
              </a:rPr>
              <a:t>Dataset was balanced, ensuring equal representation across all gesture categories.</a:t>
            </a:r>
            <a:endParaRPr 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991D88C-CBBB-4911-B88A-E77C0A470F18}"/>
              </a:ext>
            </a:extLst>
          </p:cNvPr>
          <p:cNvSpPr txBox="1"/>
          <p:nvPr/>
        </p:nvSpPr>
        <p:spPr>
          <a:xfrm>
            <a:off x="5311066" y="3532471"/>
            <a:ext cx="404414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0" i="0" dirty="0">
                <a:solidFill>
                  <a:srgbClr val="336EA8"/>
                </a:solidFill>
                <a:effectLst/>
                <a:latin typeface="gg sans"/>
              </a:rPr>
              <a:t>Key Processing Techniques</a:t>
            </a:r>
            <a:endParaRPr lang="en-US" sz="2600" dirty="0">
              <a:solidFill>
                <a:srgbClr val="336EA8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74A7CEB-DDEC-4A95-A9F3-F475E99512CB}"/>
              </a:ext>
            </a:extLst>
          </p:cNvPr>
          <p:cNvSpPr txBox="1"/>
          <p:nvPr/>
        </p:nvSpPr>
        <p:spPr>
          <a:xfrm>
            <a:off x="5623638" y="4142593"/>
            <a:ext cx="609452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0" i="0" dirty="0">
                <a:effectLst/>
                <a:latin typeface="gg sans"/>
              </a:rPr>
              <a:t>Hand segmentation and landmark extraction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0" i="0" dirty="0">
                <a:effectLst/>
                <a:latin typeface="gg sans"/>
              </a:rPr>
              <a:t>Normalization of coordinate values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0" i="0" dirty="0">
                <a:effectLst/>
                <a:latin typeface="gg sans"/>
              </a:rPr>
              <a:t>Data augmentation applied to improve robustness 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9522778-AB6C-42E6-996B-BDA59C161B3E}"/>
              </a:ext>
            </a:extLst>
          </p:cNvPr>
          <p:cNvSpPr txBox="1"/>
          <p:nvPr/>
        </p:nvSpPr>
        <p:spPr>
          <a:xfrm>
            <a:off x="5515252" y="5222445"/>
            <a:ext cx="578602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effectLst/>
                <a:latin typeface="gg sans"/>
              </a:rPr>
              <a:t>This pipeline ensures clean, consistent, and lightweight training data optimized for real-time gesture recognition.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48041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cs typeface="Calibri"/>
                <a:sym typeface="Calibri"/>
              </a:rPr>
              <a:t>11/30/25</a:t>
            </a:r>
          </a:p>
        </p:txBody>
      </p:sp>
      <p:sp>
        <p:nvSpPr>
          <p:cNvPr id="217" name="Google Shape;217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cs typeface="Calibri"/>
                <a:sym typeface="Calibri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6</a:t>
            </a:fld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cs typeface="Calibri"/>
              <a:sym typeface="Calibri"/>
            </a:endParaRPr>
          </a:p>
        </p:txBody>
      </p:sp>
      <p:pic>
        <p:nvPicPr>
          <p:cNvPr id="2" name="Google Shape;110;p1">
            <a:extLst>
              <a:ext uri="{FF2B5EF4-FFF2-40B4-BE49-F238E27FC236}">
                <a16:creationId xmlns:a16="http://schemas.microsoft.com/office/drawing/2014/main" id="{2E0295A1-3AEC-1EA2-58F1-FD4A8C06D639}"/>
              </a:ext>
            </a:extLst>
          </p:cNvPr>
          <p:cNvPicPr preferRelativeResize="0"/>
          <p:nvPr/>
        </p:nvPicPr>
        <p:blipFill>
          <a:blip r:embed="rId3"/>
          <a:srcRect/>
          <a:stretch/>
        </p:blipFill>
        <p:spPr>
          <a:xfrm>
            <a:off x="9010943" y="6291124"/>
            <a:ext cx="1362250" cy="365125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6CD12E1-66A4-4930-8850-1B1584036510}"/>
              </a:ext>
            </a:extLst>
          </p:cNvPr>
          <p:cNvSpPr txBox="1"/>
          <p:nvPr/>
        </p:nvSpPr>
        <p:spPr>
          <a:xfrm>
            <a:off x="142041" y="1185327"/>
            <a:ext cx="378188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0" i="0" dirty="0">
                <a:solidFill>
                  <a:srgbClr val="336EA8"/>
                </a:solidFill>
                <a:effectLst/>
                <a:latin typeface="gg sans"/>
              </a:rPr>
              <a:t>Programming Languages </a:t>
            </a:r>
            <a:endParaRPr lang="en-US" sz="2800" dirty="0">
              <a:solidFill>
                <a:srgbClr val="336EA8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1B97B27-0141-41B6-8983-53BCD5149EC5}"/>
              </a:ext>
            </a:extLst>
          </p:cNvPr>
          <p:cNvSpPr txBox="1"/>
          <p:nvPr/>
        </p:nvSpPr>
        <p:spPr>
          <a:xfrm>
            <a:off x="534139" y="1832832"/>
            <a:ext cx="900935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i="0" dirty="0">
                <a:effectLst/>
                <a:latin typeface="gg sans"/>
              </a:rPr>
              <a:t>Python:</a:t>
            </a:r>
            <a:r>
              <a:rPr lang="en-US" sz="1600" b="0" i="0" dirty="0">
                <a:effectLst/>
                <a:latin typeface="gg sans"/>
              </a:rPr>
              <a:t> Primary language used for model development, data processing, computer vision, and real-time inference. </a:t>
            </a:r>
            <a:endParaRPr lang="en-US" sz="1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F998807-1DF8-4AD7-B52B-B0627DD5214B}"/>
              </a:ext>
            </a:extLst>
          </p:cNvPr>
          <p:cNvSpPr txBox="1"/>
          <p:nvPr/>
        </p:nvSpPr>
        <p:spPr>
          <a:xfrm>
            <a:off x="142040" y="2452526"/>
            <a:ext cx="312494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0" i="0" dirty="0">
                <a:solidFill>
                  <a:srgbClr val="336EA8"/>
                </a:solidFill>
                <a:effectLst/>
                <a:latin typeface="gg sans"/>
              </a:rPr>
              <a:t>Frameworks &amp; Tools</a:t>
            </a:r>
            <a:endParaRPr lang="en-US" sz="2800" dirty="0">
              <a:solidFill>
                <a:srgbClr val="336EA8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DA0DBB1-EB44-41CE-8660-902BC9D3E356}"/>
              </a:ext>
            </a:extLst>
          </p:cNvPr>
          <p:cNvSpPr txBox="1"/>
          <p:nvPr/>
        </p:nvSpPr>
        <p:spPr>
          <a:xfrm>
            <a:off x="534139" y="3064519"/>
            <a:ext cx="9772835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i="0" dirty="0">
                <a:effectLst/>
                <a:latin typeface="gg sans"/>
              </a:rPr>
              <a:t>TensorFlow / </a:t>
            </a:r>
            <a:r>
              <a:rPr lang="en-US" sz="1600" b="1" i="0" dirty="0" err="1">
                <a:effectLst/>
                <a:latin typeface="gg sans"/>
              </a:rPr>
              <a:t>Keras</a:t>
            </a:r>
            <a:r>
              <a:rPr lang="en-US" sz="1600" b="1" i="0" dirty="0">
                <a:effectLst/>
                <a:latin typeface="gg sans"/>
              </a:rPr>
              <a:t>:</a:t>
            </a:r>
            <a:r>
              <a:rPr lang="en-US" sz="1600" b="0" i="0" dirty="0">
                <a:effectLst/>
                <a:latin typeface="gg sans"/>
              </a:rPr>
              <a:t> Building, training, and optimizing the gesture recognition model </a:t>
            </a:r>
            <a:endParaRPr lang="ar-EG" sz="1600" b="0" i="0" dirty="0">
              <a:effectLst/>
              <a:latin typeface="gg sans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i="0" dirty="0" err="1">
                <a:effectLst/>
                <a:latin typeface="gg sans"/>
              </a:rPr>
              <a:t>MediaPipe</a:t>
            </a:r>
            <a:r>
              <a:rPr lang="en-US" sz="1600" b="1" i="0" dirty="0">
                <a:effectLst/>
                <a:latin typeface="gg sans"/>
              </a:rPr>
              <a:t>:</a:t>
            </a:r>
            <a:r>
              <a:rPr lang="en-US" sz="1600" b="0" i="0" dirty="0">
                <a:effectLst/>
                <a:latin typeface="gg sans"/>
              </a:rPr>
              <a:t> Extracting precise hand landmarks for lightweight feature representation </a:t>
            </a:r>
            <a:endParaRPr lang="ar-EG" sz="1600" b="0" i="0" dirty="0">
              <a:effectLst/>
              <a:latin typeface="gg sans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i="0" dirty="0">
                <a:effectLst/>
                <a:latin typeface="gg sans"/>
              </a:rPr>
              <a:t>OpenCV:</a:t>
            </a:r>
            <a:r>
              <a:rPr lang="en-US" sz="1600" b="0" i="0" dirty="0">
                <a:effectLst/>
                <a:latin typeface="gg sans"/>
              </a:rPr>
              <a:t> Real-time video capture and frame processing </a:t>
            </a:r>
            <a:endParaRPr lang="ar-EG" sz="1600" b="0" i="0" dirty="0">
              <a:effectLst/>
              <a:latin typeface="gg sans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i="0" dirty="0" err="1">
                <a:effectLst/>
                <a:latin typeface="gg sans"/>
              </a:rPr>
              <a:t>Streamlit</a:t>
            </a:r>
            <a:r>
              <a:rPr lang="en-US" sz="1600" b="1" i="0" dirty="0">
                <a:effectLst/>
                <a:latin typeface="gg sans"/>
              </a:rPr>
              <a:t>:</a:t>
            </a:r>
            <a:r>
              <a:rPr lang="en-US" sz="1600" b="0" i="0" dirty="0">
                <a:effectLst/>
                <a:latin typeface="gg sans"/>
              </a:rPr>
              <a:t> Creating an interactive, user-friendly interface for testing the system</a:t>
            </a:r>
            <a:endParaRPr lang="en-US" sz="16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33DCD20-29E0-4E8D-B50F-47CE42C295B2}"/>
              </a:ext>
            </a:extLst>
          </p:cNvPr>
          <p:cNvSpPr txBox="1"/>
          <p:nvPr/>
        </p:nvSpPr>
        <p:spPr>
          <a:xfrm>
            <a:off x="142040" y="4203876"/>
            <a:ext cx="378189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0" i="0" dirty="0">
                <a:solidFill>
                  <a:srgbClr val="336EA8"/>
                </a:solidFill>
                <a:effectLst/>
                <a:latin typeface="gg sans"/>
              </a:rPr>
              <a:t>Supporting Technologies </a:t>
            </a:r>
            <a:endParaRPr lang="en-US" sz="2800" dirty="0">
              <a:solidFill>
                <a:srgbClr val="336EA8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DA5CA0-FB72-456D-916E-559197753906}"/>
              </a:ext>
            </a:extLst>
          </p:cNvPr>
          <p:cNvSpPr txBox="1"/>
          <p:nvPr/>
        </p:nvSpPr>
        <p:spPr>
          <a:xfrm>
            <a:off x="401712" y="4706607"/>
            <a:ext cx="11281302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i="0" dirty="0">
                <a:effectLst/>
                <a:latin typeface="gg sans"/>
              </a:rPr>
              <a:t>NumPy &amp; Pandas:</a:t>
            </a:r>
            <a:r>
              <a:rPr lang="en-US" b="0" i="0" dirty="0">
                <a:effectLst/>
                <a:latin typeface="gg sans"/>
              </a:rPr>
              <a:t> Data handling and CSV management Azure (planned): Cloud deployment, scaling, and model monitoring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i="0" dirty="0" err="1">
                <a:effectLst/>
                <a:latin typeface="gg sans"/>
              </a:rPr>
              <a:t>PyAutoGUI</a:t>
            </a:r>
            <a:r>
              <a:rPr lang="en-US" b="1" i="0" dirty="0">
                <a:effectLst/>
                <a:latin typeface="gg sans"/>
              </a:rPr>
              <a:t>:</a:t>
            </a:r>
            <a:r>
              <a:rPr lang="en-US" b="0" i="0" dirty="0">
                <a:effectLst/>
                <a:latin typeface="gg sans"/>
              </a:rPr>
              <a:t> Enabling gesture-based control of mouse, scrolling, and media navigation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b="0" i="0" dirty="0">
              <a:effectLst/>
              <a:latin typeface="gg sans"/>
            </a:endParaRPr>
          </a:p>
          <a:p>
            <a:r>
              <a:rPr lang="en-US" b="1" i="0" dirty="0">
                <a:effectLst/>
                <a:latin typeface="gg sans"/>
              </a:rPr>
              <a:t>These technologies collectively enabled fast prototyping, accurate model training, and seamless real-time interaction.</a:t>
            </a:r>
            <a:endParaRPr lang="en-US" b="1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BA2E9A-7FB7-413D-AB68-A8113766395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7</a:t>
            </a:fld>
            <a:endParaRPr lang="en-US"/>
          </a:p>
        </p:txBody>
      </p:sp>
      <p:pic>
        <p:nvPicPr>
          <p:cNvPr id="5" name="Google Shape;110;p1">
            <a:extLst>
              <a:ext uri="{FF2B5EF4-FFF2-40B4-BE49-F238E27FC236}">
                <a16:creationId xmlns:a16="http://schemas.microsoft.com/office/drawing/2014/main" id="{46C070D6-2F9C-412A-8DEB-8C83B9061053}"/>
              </a:ext>
            </a:extLst>
          </p:cNvPr>
          <p:cNvPicPr preferRelativeResize="0"/>
          <p:nvPr/>
        </p:nvPicPr>
        <p:blipFill>
          <a:blip r:embed="rId2"/>
          <a:srcRect/>
          <a:stretch/>
        </p:blipFill>
        <p:spPr>
          <a:xfrm>
            <a:off x="9010943" y="6291124"/>
            <a:ext cx="1362250" cy="365125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215;p11">
            <a:extLst>
              <a:ext uri="{FF2B5EF4-FFF2-40B4-BE49-F238E27FC236}">
                <a16:creationId xmlns:a16="http://schemas.microsoft.com/office/drawing/2014/main" id="{83C2A403-A0E7-47FD-9B0F-13D106D1CE0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cs typeface="Calibri"/>
                <a:sym typeface="Calibri"/>
              </a:rPr>
              <a:t>11/30/25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19A6F20-B326-4674-A0F9-BF348DCA5CE4}"/>
              </a:ext>
            </a:extLst>
          </p:cNvPr>
          <p:cNvSpPr txBox="1"/>
          <p:nvPr/>
        </p:nvSpPr>
        <p:spPr>
          <a:xfrm>
            <a:off x="142042" y="1185327"/>
            <a:ext cx="23525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0" i="0" dirty="0">
                <a:solidFill>
                  <a:srgbClr val="336EA8"/>
                </a:solidFill>
                <a:effectLst/>
                <a:latin typeface="gg sans"/>
              </a:rPr>
              <a:t>Testing Phases </a:t>
            </a:r>
            <a:endParaRPr lang="en-US" sz="2800" dirty="0">
              <a:solidFill>
                <a:srgbClr val="336EA8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0B9860-3C15-4492-9E47-3D99B4D8EB75}"/>
              </a:ext>
            </a:extLst>
          </p:cNvPr>
          <p:cNvSpPr txBox="1"/>
          <p:nvPr/>
        </p:nvSpPr>
        <p:spPr>
          <a:xfrm>
            <a:off x="461638" y="1862893"/>
            <a:ext cx="1089216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i="0" dirty="0">
                <a:effectLst/>
                <a:latin typeface="gg sans"/>
              </a:rPr>
              <a:t>Model Evaluation:</a:t>
            </a:r>
            <a:r>
              <a:rPr lang="en-US" b="0" i="0" dirty="0">
                <a:effectLst/>
                <a:latin typeface="gg sans"/>
              </a:rPr>
              <a:t> Tested classification accuracy, confidence levels, and stability across different lighting conditions and users.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i="0" dirty="0">
                <a:effectLst/>
                <a:latin typeface="gg sans"/>
              </a:rPr>
              <a:t>Functional Testing:</a:t>
            </a:r>
            <a:r>
              <a:rPr lang="en-US" b="0" i="0" dirty="0">
                <a:effectLst/>
                <a:latin typeface="gg sans"/>
              </a:rPr>
              <a:t> Verified real-time response, gesture detection consistency, and correct mapping to control actions (mouse movement, scrolling, media navigation).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i="0" dirty="0">
                <a:effectLst/>
                <a:latin typeface="gg sans"/>
              </a:rPr>
              <a:t>Internal User Testing:</a:t>
            </a:r>
            <a:r>
              <a:rPr lang="en-US" b="0" i="0" dirty="0">
                <a:effectLst/>
                <a:latin typeface="gg sans"/>
              </a:rPr>
              <a:t> Team members interacted with the system to ensure smooth operation, identify edge cases, and validate usability.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C9B0D51-B578-439C-A343-0B18FDA5F189}"/>
              </a:ext>
            </a:extLst>
          </p:cNvPr>
          <p:cNvSpPr txBox="1"/>
          <p:nvPr/>
        </p:nvSpPr>
        <p:spPr>
          <a:xfrm>
            <a:off x="142042" y="3771565"/>
            <a:ext cx="262779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0" i="0" dirty="0">
                <a:solidFill>
                  <a:srgbClr val="336EA8"/>
                </a:solidFill>
                <a:effectLst/>
                <a:latin typeface="gg sans"/>
              </a:rPr>
              <a:t>Team Feedback</a:t>
            </a:r>
            <a:endParaRPr lang="en-US" sz="2800" dirty="0">
              <a:solidFill>
                <a:srgbClr val="336EA8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06CC9E-6EC8-4BDC-AC15-0C2EFF858E8A}"/>
              </a:ext>
            </a:extLst>
          </p:cNvPr>
          <p:cNvSpPr txBox="1"/>
          <p:nvPr/>
        </p:nvSpPr>
        <p:spPr>
          <a:xfrm>
            <a:off x="461637" y="4339139"/>
            <a:ext cx="9911555" cy="17095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0" i="0" dirty="0">
                <a:effectLst/>
                <a:latin typeface="gg sans"/>
              </a:rPr>
              <a:t>Recognition was generally fast and reliable during live testing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0" i="0" dirty="0">
                <a:effectLst/>
                <a:latin typeface="gg sans"/>
              </a:rPr>
              <a:t>Some gestures required clearer boundaries, leading to refinement of gesture definitions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0" i="0" dirty="0">
                <a:effectLst/>
                <a:latin typeface="gg sans"/>
              </a:rPr>
              <a:t>Testing revealed the need for additional preprocessing to handle lighting variation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0" i="0" dirty="0">
                <a:effectLst/>
                <a:latin typeface="gg sans"/>
              </a:rPr>
              <a:t>Feedback helped improve dataset quality, landmark extraction consistency, and overall usability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1578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9AC8B0-8309-46E7-99BA-AD980F66E2C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8</a:t>
            </a:fld>
            <a:endParaRPr lang="en-US"/>
          </a:p>
        </p:txBody>
      </p:sp>
      <p:pic>
        <p:nvPicPr>
          <p:cNvPr id="5" name="Google Shape;110;p1">
            <a:extLst>
              <a:ext uri="{FF2B5EF4-FFF2-40B4-BE49-F238E27FC236}">
                <a16:creationId xmlns:a16="http://schemas.microsoft.com/office/drawing/2014/main" id="{85F21A3B-41B1-43FC-A621-04528CE2DF12}"/>
              </a:ext>
            </a:extLst>
          </p:cNvPr>
          <p:cNvPicPr preferRelativeResize="0"/>
          <p:nvPr/>
        </p:nvPicPr>
        <p:blipFill>
          <a:blip r:embed="rId2"/>
          <a:srcRect/>
          <a:stretch/>
        </p:blipFill>
        <p:spPr>
          <a:xfrm>
            <a:off x="9010943" y="6291124"/>
            <a:ext cx="1362250" cy="365125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215;p11">
            <a:extLst>
              <a:ext uri="{FF2B5EF4-FFF2-40B4-BE49-F238E27FC236}">
                <a16:creationId xmlns:a16="http://schemas.microsoft.com/office/drawing/2014/main" id="{8A81A144-6F40-46C4-841F-86FA88ADD37D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cs typeface="Calibri"/>
                <a:sym typeface="Calibri"/>
              </a:rPr>
              <a:t>11/30/25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DF8F8F-C501-4BC6-8D0C-F565EC6D968E}"/>
              </a:ext>
            </a:extLst>
          </p:cNvPr>
          <p:cNvSpPr txBox="1"/>
          <p:nvPr/>
        </p:nvSpPr>
        <p:spPr>
          <a:xfrm>
            <a:off x="142042" y="1185327"/>
            <a:ext cx="23525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i="0" dirty="0">
                <a:solidFill>
                  <a:srgbClr val="336EA8"/>
                </a:solidFill>
                <a:effectLst/>
                <a:latin typeface="gg sans"/>
                <a:ea typeface="Arial" panose="020B0604020202020204" pitchFamily="34" charset="0"/>
                <a:cs typeface="Arial" panose="020B0604020202020204" pitchFamily="34" charset="0"/>
              </a:rPr>
              <a:t>Deliverables</a:t>
            </a:r>
            <a:endParaRPr lang="en-US" sz="2800" dirty="0">
              <a:solidFill>
                <a:srgbClr val="336EA8"/>
              </a:solidFill>
              <a:latin typeface="gg san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04A3E1-11D4-4FB0-B4EB-0A95F30D964B}"/>
              </a:ext>
            </a:extLst>
          </p:cNvPr>
          <p:cNvSpPr txBox="1"/>
          <p:nvPr/>
        </p:nvSpPr>
        <p:spPr>
          <a:xfrm>
            <a:off x="372861" y="1810086"/>
            <a:ext cx="10209321" cy="21325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ts val="2020"/>
              </a:lnSpc>
              <a:buFont typeface="Arial" panose="020B0604020202020204" pitchFamily="34" charset="0"/>
              <a:buChar char="•"/>
            </a:pPr>
            <a:r>
              <a:rPr lang="en-US" sz="1600" b="1" i="0" dirty="0">
                <a:effectLst/>
                <a:latin typeface="gg sans"/>
              </a:rPr>
              <a:t>Technical Specifications:</a:t>
            </a:r>
            <a:r>
              <a:rPr lang="en-US" sz="1600" b="0" i="0" dirty="0">
                <a:effectLst/>
                <a:latin typeface="gg sans"/>
              </a:rPr>
              <a:t> Model architecture, preprocessing pipeline, landmark extraction, and control logic. </a:t>
            </a:r>
          </a:p>
          <a:p>
            <a:pPr marL="285750" indent="-285750">
              <a:lnSpc>
                <a:spcPts val="2020"/>
              </a:lnSpc>
              <a:buFont typeface="Arial" panose="020B0604020202020204" pitchFamily="34" charset="0"/>
              <a:buChar char="•"/>
            </a:pPr>
            <a:r>
              <a:rPr lang="en-US" sz="1600" b="1" i="0" dirty="0">
                <a:effectLst/>
                <a:latin typeface="gg sans"/>
              </a:rPr>
              <a:t>Developer Notebooks: </a:t>
            </a:r>
          </a:p>
          <a:p>
            <a:pPr marL="742950" lvl="1" indent="-285750">
              <a:lnSpc>
                <a:spcPts val="2020"/>
              </a:lnSpc>
              <a:buFont typeface="Arial" panose="020B0604020202020204" pitchFamily="34" charset="0"/>
              <a:buChar char="•"/>
            </a:pPr>
            <a:r>
              <a:rPr lang="en-US" sz="1600" b="0" i="0" dirty="0">
                <a:effectLst/>
                <a:latin typeface="gg sans"/>
              </a:rPr>
              <a:t>Data </a:t>
            </a:r>
            <a:r>
              <a:rPr lang="en-US" sz="1600" b="0" i="0" dirty="0" err="1">
                <a:effectLst/>
                <a:latin typeface="gg sans"/>
              </a:rPr>
              <a:t>Preprocessing.ipynb</a:t>
            </a:r>
            <a:r>
              <a:rPr lang="en-US" sz="1600" b="0" i="0" dirty="0">
                <a:effectLst/>
                <a:latin typeface="gg sans"/>
              </a:rPr>
              <a:t> </a:t>
            </a:r>
          </a:p>
          <a:p>
            <a:pPr marL="742950" lvl="1" indent="-285750">
              <a:lnSpc>
                <a:spcPts val="2020"/>
              </a:lnSpc>
              <a:buFont typeface="Arial" panose="020B0604020202020204" pitchFamily="34" charset="0"/>
              <a:buChar char="•"/>
            </a:pPr>
            <a:r>
              <a:rPr lang="en-US" sz="1600" b="0" i="0" dirty="0" err="1">
                <a:effectLst/>
                <a:latin typeface="gg sans"/>
              </a:rPr>
              <a:t>Model_Training.ipynb</a:t>
            </a:r>
            <a:r>
              <a:rPr lang="en-US" sz="1600" b="0" i="0" dirty="0">
                <a:effectLst/>
                <a:latin typeface="gg sans"/>
              </a:rPr>
              <a:t> </a:t>
            </a:r>
          </a:p>
          <a:p>
            <a:pPr marL="285750" indent="-285750">
              <a:lnSpc>
                <a:spcPts val="2020"/>
              </a:lnSpc>
              <a:buFont typeface="Arial" panose="020B0604020202020204" pitchFamily="34" charset="0"/>
              <a:buChar char="•"/>
            </a:pPr>
            <a:r>
              <a:rPr lang="en-US" sz="1600" b="1" i="0" dirty="0">
                <a:effectLst/>
                <a:latin typeface="gg sans"/>
              </a:rPr>
              <a:t>Monitoring Reports: </a:t>
            </a:r>
            <a:r>
              <a:rPr lang="en-US" sz="1600" b="0" i="0" dirty="0">
                <a:effectLst/>
                <a:latin typeface="gg sans"/>
              </a:rPr>
              <a:t>Monitoring Data.csv, Monitoring.log, and monitoring_module.py </a:t>
            </a:r>
          </a:p>
          <a:p>
            <a:pPr marL="285750" indent="-285750">
              <a:lnSpc>
                <a:spcPts val="2020"/>
              </a:lnSpc>
              <a:buFont typeface="Arial" panose="020B0604020202020204" pitchFamily="34" charset="0"/>
              <a:buChar char="•"/>
            </a:pPr>
            <a:r>
              <a:rPr lang="en-US" sz="1600" b="1" i="0" dirty="0">
                <a:effectLst/>
                <a:latin typeface="gg sans"/>
              </a:rPr>
              <a:t>User &amp; Setup Documentation: </a:t>
            </a:r>
          </a:p>
          <a:p>
            <a:pPr marL="742950" lvl="1" indent="-285750">
              <a:lnSpc>
                <a:spcPts val="2020"/>
              </a:lnSpc>
              <a:buFont typeface="Arial" panose="020B0604020202020204" pitchFamily="34" charset="0"/>
              <a:buChar char="•"/>
            </a:pPr>
            <a:r>
              <a:rPr lang="en-US" sz="1600" b="0" i="0" dirty="0">
                <a:effectLst/>
                <a:latin typeface="gg sans"/>
              </a:rPr>
              <a:t>Instructions for running realtime_detection.py and realtime_gesture_controller.py </a:t>
            </a:r>
          </a:p>
          <a:p>
            <a:pPr marL="742950" lvl="1" indent="-285750">
              <a:lnSpc>
                <a:spcPts val="2020"/>
              </a:lnSpc>
              <a:buFont typeface="Arial" panose="020B0604020202020204" pitchFamily="34" charset="0"/>
              <a:buChar char="•"/>
            </a:pPr>
            <a:r>
              <a:rPr lang="en-US" sz="1600" b="0" i="0" dirty="0">
                <a:effectLst/>
                <a:latin typeface="gg sans"/>
              </a:rPr>
              <a:t>Environment setup via requirements.txt </a:t>
            </a:r>
            <a:endParaRPr lang="en-US" sz="1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EC3FA0-93AC-42DD-96C8-CC5BE230774D}"/>
              </a:ext>
            </a:extLst>
          </p:cNvPr>
          <p:cNvSpPr txBox="1"/>
          <p:nvPr/>
        </p:nvSpPr>
        <p:spPr>
          <a:xfrm>
            <a:off x="142042" y="3872189"/>
            <a:ext cx="19619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i="0" dirty="0">
                <a:solidFill>
                  <a:srgbClr val="336EA8"/>
                </a:solidFill>
                <a:effectLst/>
                <a:latin typeface="gg sans"/>
                <a:ea typeface="Arial" panose="020B0604020202020204" pitchFamily="34" charset="0"/>
                <a:cs typeface="Arial" panose="020B0604020202020204" pitchFamily="34" charset="0"/>
              </a:rPr>
              <a:t>Timeline</a:t>
            </a:r>
            <a:endParaRPr lang="en-US" sz="2800" dirty="0">
              <a:solidFill>
                <a:srgbClr val="336EA8"/>
              </a:solidFill>
              <a:latin typeface="gg san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ABEFF8E-4648-498E-B82A-3FD63FBF1B98}"/>
              </a:ext>
            </a:extLst>
          </p:cNvPr>
          <p:cNvSpPr txBox="1"/>
          <p:nvPr/>
        </p:nvSpPr>
        <p:spPr>
          <a:xfrm>
            <a:off x="676921" y="4392177"/>
            <a:ext cx="6416337" cy="16677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ts val="2500"/>
              </a:lnSpc>
              <a:buFont typeface="+mj-lt"/>
              <a:buAutoNum type="arabicPeriod"/>
            </a:pPr>
            <a:r>
              <a:rPr lang="en-US" sz="1600" b="0" i="0" dirty="0">
                <a:effectLst/>
                <a:latin typeface="gg sans"/>
              </a:rPr>
              <a:t>Milestone 1 – Data Collection &amp; Preprocessing: 		 2 weeks </a:t>
            </a:r>
          </a:p>
          <a:p>
            <a:pPr marL="342900" indent="-342900">
              <a:lnSpc>
                <a:spcPts val="2500"/>
              </a:lnSpc>
              <a:buFont typeface="+mj-lt"/>
              <a:buAutoNum type="arabicPeriod"/>
            </a:pPr>
            <a:r>
              <a:rPr lang="en-US" sz="1600" b="0" i="0" dirty="0">
                <a:effectLst/>
                <a:latin typeface="gg sans"/>
              </a:rPr>
              <a:t>Milestone 2 – Model Development &amp; Training: 	</a:t>
            </a:r>
            <a:r>
              <a:rPr lang="en-US" sz="1600" dirty="0">
                <a:latin typeface="gg sans"/>
              </a:rPr>
              <a:t>                  </a:t>
            </a:r>
            <a:r>
              <a:rPr lang="en-US" sz="1600" b="0" i="0" dirty="0">
                <a:effectLst/>
                <a:latin typeface="gg sans"/>
              </a:rPr>
              <a:t>1-2 weeks</a:t>
            </a:r>
          </a:p>
          <a:p>
            <a:pPr marL="342900" indent="-342900">
              <a:lnSpc>
                <a:spcPts val="2500"/>
              </a:lnSpc>
              <a:buFont typeface="+mj-lt"/>
              <a:buAutoNum type="arabicPeriod"/>
            </a:pPr>
            <a:r>
              <a:rPr lang="en-US" sz="1600" b="0" i="0" dirty="0">
                <a:effectLst/>
                <a:latin typeface="gg sans"/>
              </a:rPr>
              <a:t>Milestone 3 – Real-Time Recognition &amp; Deployment:               1–2 weeks </a:t>
            </a:r>
          </a:p>
          <a:p>
            <a:pPr marL="342900" indent="-342900">
              <a:lnSpc>
                <a:spcPts val="2500"/>
              </a:lnSpc>
              <a:buFont typeface="+mj-lt"/>
              <a:buAutoNum type="arabicPeriod"/>
            </a:pPr>
            <a:r>
              <a:rPr lang="en-US" sz="1600" b="0" i="0" dirty="0">
                <a:effectLst/>
                <a:latin typeface="gg sans"/>
              </a:rPr>
              <a:t>Milestone 4 – MLOps &amp; Monitoring: 		                     2 weeks </a:t>
            </a:r>
          </a:p>
          <a:p>
            <a:pPr marL="342900" indent="-342900">
              <a:lnSpc>
                <a:spcPts val="2500"/>
              </a:lnSpc>
              <a:buFont typeface="+mj-lt"/>
              <a:buAutoNum type="arabicPeriod"/>
            </a:pPr>
            <a:r>
              <a:rPr lang="en-US" sz="1600" b="0" i="0" dirty="0">
                <a:effectLst/>
                <a:latin typeface="gg sans"/>
              </a:rPr>
              <a:t>Milestone 5 – Final Documentation &amp; Presentation: 	 2 weeks 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5424352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6146D0-0FCD-47FF-8D76-A6FBBBAEAF0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9</a:t>
            </a:fld>
            <a:endParaRPr lang="en-US"/>
          </a:p>
        </p:txBody>
      </p:sp>
      <p:pic>
        <p:nvPicPr>
          <p:cNvPr id="5" name="Google Shape;110;p1">
            <a:extLst>
              <a:ext uri="{FF2B5EF4-FFF2-40B4-BE49-F238E27FC236}">
                <a16:creationId xmlns:a16="http://schemas.microsoft.com/office/drawing/2014/main" id="{9FC20400-7F03-48CB-8FBB-4D7CA0D72C90}"/>
              </a:ext>
            </a:extLst>
          </p:cNvPr>
          <p:cNvPicPr preferRelativeResize="0"/>
          <p:nvPr/>
        </p:nvPicPr>
        <p:blipFill>
          <a:blip r:embed="rId2"/>
          <a:srcRect/>
          <a:stretch/>
        </p:blipFill>
        <p:spPr>
          <a:xfrm>
            <a:off x="9010943" y="6291124"/>
            <a:ext cx="1362250" cy="365125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215;p11">
            <a:extLst>
              <a:ext uri="{FF2B5EF4-FFF2-40B4-BE49-F238E27FC236}">
                <a16:creationId xmlns:a16="http://schemas.microsoft.com/office/drawing/2014/main" id="{67B2D46C-0150-44EC-B2E4-916CE6702FCD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cs typeface="Calibri"/>
                <a:sym typeface="Calibri"/>
              </a:rPr>
              <a:t>11/30/25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E23065-DC98-481F-B09E-E62D26CA76E6}"/>
              </a:ext>
            </a:extLst>
          </p:cNvPr>
          <p:cNvSpPr txBox="1"/>
          <p:nvPr/>
        </p:nvSpPr>
        <p:spPr>
          <a:xfrm>
            <a:off x="142042" y="1194205"/>
            <a:ext cx="33557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0" i="0" dirty="0">
                <a:solidFill>
                  <a:srgbClr val="336EA8"/>
                </a:solidFill>
                <a:effectLst/>
                <a:latin typeface="gg sans"/>
              </a:rPr>
              <a:t>Final Project Outputs </a:t>
            </a:r>
            <a:endParaRPr lang="en-US" sz="2800" dirty="0">
              <a:solidFill>
                <a:srgbClr val="336EA8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C639901-4043-4521-B6BB-9232E1E2C7D1}"/>
              </a:ext>
            </a:extLst>
          </p:cNvPr>
          <p:cNvSpPr txBox="1"/>
          <p:nvPr/>
        </p:nvSpPr>
        <p:spPr>
          <a:xfrm>
            <a:off x="597131" y="1773773"/>
            <a:ext cx="8413812" cy="38909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b="0" i="0" dirty="0">
                <a:effectLst/>
                <a:latin typeface="gg sans"/>
              </a:rPr>
              <a:t>Fully working real-time gesture recognition app 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b="0" i="0" dirty="0">
                <a:effectLst/>
                <a:latin typeface="gg sans"/>
              </a:rPr>
              <a:t>Gesture-based control program (mouse, scrolling, media navigation) 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b="0" i="0" dirty="0">
                <a:effectLst/>
                <a:latin typeface="gg sans"/>
              </a:rPr>
              <a:t>Complete source code repository, including: </a:t>
            </a:r>
          </a:p>
          <a:p>
            <a:pPr marL="742950" lvl="1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b="0" i="0" dirty="0">
                <a:effectLst/>
                <a:latin typeface="gg sans"/>
              </a:rPr>
              <a:t>Model files (</a:t>
            </a:r>
            <a:r>
              <a:rPr lang="en-US" b="0" i="0" dirty="0" err="1">
                <a:effectLst/>
                <a:latin typeface="gg sans"/>
              </a:rPr>
              <a:t>hand_gesture_norm_model.pkl</a:t>
            </a:r>
            <a:r>
              <a:rPr lang="en-US" b="0" i="0" dirty="0">
                <a:effectLst/>
                <a:latin typeface="gg sans"/>
              </a:rPr>
              <a:t>, </a:t>
            </a:r>
            <a:r>
              <a:rPr lang="en-US" b="0" i="0" dirty="0" err="1">
                <a:effectLst/>
                <a:latin typeface="gg sans"/>
              </a:rPr>
              <a:t>scaler.pkl</a:t>
            </a:r>
            <a:r>
              <a:rPr lang="en-US" b="0" i="0" dirty="0">
                <a:effectLst/>
                <a:latin typeface="gg sans"/>
              </a:rPr>
              <a:t>) </a:t>
            </a:r>
          </a:p>
          <a:p>
            <a:pPr marL="742950" lvl="1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b="0" i="0" dirty="0">
                <a:effectLst/>
                <a:latin typeface="gg sans"/>
              </a:rPr>
              <a:t>Action mappings (actions.py)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b="0" i="0" dirty="0">
                <a:effectLst/>
                <a:latin typeface="gg sans"/>
              </a:rPr>
              <a:t>Segmentation and detection modules (segment_image.py, realtime_detection.py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b="0" i="0" dirty="0">
                <a:effectLst/>
                <a:latin typeface="gg sans"/>
              </a:rPr>
              <a:t>Logging, monitoring, and </a:t>
            </a:r>
            <a:r>
              <a:rPr lang="en-US" b="0" i="0" dirty="0" err="1">
                <a:effectLst/>
                <a:latin typeface="gg sans"/>
              </a:rPr>
              <a:t>MLflow</a:t>
            </a:r>
            <a:r>
              <a:rPr lang="en-US" b="0" i="0" dirty="0">
                <a:effectLst/>
                <a:latin typeface="gg sans"/>
              </a:rPr>
              <a:t> tracking tools (mlflow_log_model.py)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49349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A00C8A-EC9D-4564-ACE6-B298E446719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10</a:t>
            </a:fld>
            <a:endParaRPr lang="en-US"/>
          </a:p>
        </p:txBody>
      </p:sp>
      <p:pic>
        <p:nvPicPr>
          <p:cNvPr id="5" name="Google Shape;110;p1">
            <a:extLst>
              <a:ext uri="{FF2B5EF4-FFF2-40B4-BE49-F238E27FC236}">
                <a16:creationId xmlns:a16="http://schemas.microsoft.com/office/drawing/2014/main" id="{44A584C2-B6A6-4372-84C0-9CD565B88688}"/>
              </a:ext>
            </a:extLst>
          </p:cNvPr>
          <p:cNvPicPr preferRelativeResize="0"/>
          <p:nvPr/>
        </p:nvPicPr>
        <p:blipFill>
          <a:blip r:embed="rId2"/>
          <a:srcRect/>
          <a:stretch/>
        </p:blipFill>
        <p:spPr>
          <a:xfrm>
            <a:off x="9010943" y="6291124"/>
            <a:ext cx="1362250" cy="365125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215;p11">
            <a:extLst>
              <a:ext uri="{FF2B5EF4-FFF2-40B4-BE49-F238E27FC236}">
                <a16:creationId xmlns:a16="http://schemas.microsoft.com/office/drawing/2014/main" id="{5EA565D9-B087-4DD9-AB51-685FFBC4B0D3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cs typeface="Calibri"/>
                <a:sym typeface="Calibri"/>
              </a:rPr>
              <a:t>11/30/25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7B10268-E45C-4AE4-AEF6-2DFABCE11F88}"/>
              </a:ext>
            </a:extLst>
          </p:cNvPr>
          <p:cNvSpPr txBox="1"/>
          <p:nvPr/>
        </p:nvSpPr>
        <p:spPr>
          <a:xfrm>
            <a:off x="142042" y="1194205"/>
            <a:ext cx="24857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2800" i="0" dirty="0">
                <a:solidFill>
                  <a:srgbClr val="336EA8"/>
                </a:solidFill>
                <a:effectLst/>
                <a:latin typeface="gg sans"/>
              </a:rPr>
              <a:t>Team Members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81BBFF8-51DD-4651-859C-D15C939A0335}"/>
              </a:ext>
            </a:extLst>
          </p:cNvPr>
          <p:cNvSpPr txBox="1"/>
          <p:nvPr/>
        </p:nvSpPr>
        <p:spPr>
          <a:xfrm>
            <a:off x="305535" y="1717425"/>
            <a:ext cx="5083206" cy="15474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lnSpc>
                <a:spcPts val="2320"/>
              </a:lnSpc>
              <a:buFont typeface="Arial" panose="020B0604020202020204" pitchFamily="34" charset="0"/>
              <a:buChar char="•"/>
            </a:pPr>
            <a:r>
              <a:rPr lang="en-US" sz="1600" b="1" i="0" dirty="0">
                <a:effectLst/>
                <a:latin typeface="gg sans"/>
              </a:rPr>
              <a:t>Ahmed Mohamed Ahmed Albadawy Abdel-Gawad</a:t>
            </a:r>
            <a:endParaRPr lang="en-US" sz="1600" b="0" i="0" dirty="0">
              <a:effectLst/>
              <a:latin typeface="gg sans"/>
            </a:endParaRPr>
          </a:p>
          <a:p>
            <a:pPr marL="285750" indent="-285750" algn="l">
              <a:lnSpc>
                <a:spcPts val="2320"/>
              </a:lnSpc>
              <a:buFont typeface="Arial" panose="020B0604020202020204" pitchFamily="34" charset="0"/>
              <a:buChar char="•"/>
            </a:pPr>
            <a:r>
              <a:rPr lang="en-US" sz="1600" b="1" i="0" dirty="0">
                <a:effectLst/>
                <a:latin typeface="gg sans"/>
              </a:rPr>
              <a:t>Abdelrahman Tarek Mansour Elsherbiny</a:t>
            </a:r>
            <a:endParaRPr lang="en-US" sz="1600" b="0" i="0" dirty="0">
              <a:effectLst/>
              <a:latin typeface="gg sans"/>
            </a:endParaRPr>
          </a:p>
          <a:p>
            <a:pPr marL="285750" indent="-285750" algn="l">
              <a:lnSpc>
                <a:spcPts val="2320"/>
              </a:lnSpc>
              <a:buFont typeface="Arial" panose="020B0604020202020204" pitchFamily="34" charset="0"/>
              <a:buChar char="•"/>
            </a:pPr>
            <a:r>
              <a:rPr lang="en-US" sz="1600" b="1" i="0" dirty="0">
                <a:effectLst/>
                <a:latin typeface="gg sans"/>
              </a:rPr>
              <a:t>Hazem Ahmed Mohamed Salem El-</a:t>
            </a:r>
            <a:r>
              <a:rPr lang="en-US" sz="1600" b="1" i="0" dirty="0" err="1">
                <a:effectLst/>
                <a:latin typeface="gg sans"/>
              </a:rPr>
              <a:t>bamby</a:t>
            </a:r>
            <a:endParaRPr lang="en-US" sz="1600" b="0" i="0" dirty="0">
              <a:effectLst/>
              <a:latin typeface="gg sans"/>
            </a:endParaRPr>
          </a:p>
          <a:p>
            <a:pPr marL="285750" indent="-285750" algn="l">
              <a:lnSpc>
                <a:spcPts val="2320"/>
              </a:lnSpc>
              <a:buFont typeface="Arial" panose="020B0604020202020204" pitchFamily="34" charset="0"/>
              <a:buChar char="•"/>
            </a:pPr>
            <a:r>
              <a:rPr lang="en-US" sz="1600" b="1" i="0" dirty="0">
                <a:effectLst/>
                <a:latin typeface="gg sans"/>
              </a:rPr>
              <a:t>Yousef Fady </a:t>
            </a:r>
            <a:r>
              <a:rPr lang="en-US" sz="1600" b="1" i="0" dirty="0" err="1">
                <a:effectLst/>
                <a:latin typeface="gg sans"/>
              </a:rPr>
              <a:t>Gamil</a:t>
            </a:r>
            <a:r>
              <a:rPr lang="en-US" sz="1600" b="1" i="0" dirty="0">
                <a:effectLst/>
                <a:latin typeface="gg sans"/>
              </a:rPr>
              <a:t> </a:t>
            </a:r>
            <a:r>
              <a:rPr lang="en-US" sz="1600" b="1" i="0" dirty="0" err="1">
                <a:effectLst/>
                <a:latin typeface="gg sans"/>
              </a:rPr>
              <a:t>Mahroos</a:t>
            </a:r>
            <a:endParaRPr lang="en-US" sz="1600" b="0" i="0" dirty="0">
              <a:effectLst/>
              <a:latin typeface="gg sans"/>
            </a:endParaRPr>
          </a:p>
          <a:p>
            <a:pPr marL="285750" indent="-285750" algn="l">
              <a:lnSpc>
                <a:spcPts val="2320"/>
              </a:lnSpc>
              <a:buFont typeface="Arial" panose="020B0604020202020204" pitchFamily="34" charset="0"/>
              <a:buChar char="•"/>
            </a:pPr>
            <a:r>
              <a:rPr lang="en-US" sz="1600" b="1" i="0" dirty="0">
                <a:effectLst/>
                <a:latin typeface="gg sans"/>
              </a:rPr>
              <a:t>Mohamed Hatem Salah Ibrahim Rashed</a:t>
            </a:r>
            <a:endParaRPr lang="en-US" sz="1600" b="0" i="0" dirty="0">
              <a:effectLst/>
              <a:latin typeface="gg sans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F2AD9F2-DEF3-43C2-B3D6-28768F55D4A6}"/>
              </a:ext>
            </a:extLst>
          </p:cNvPr>
          <p:cNvSpPr txBox="1"/>
          <p:nvPr/>
        </p:nvSpPr>
        <p:spPr>
          <a:xfrm>
            <a:off x="287044" y="3340004"/>
            <a:ext cx="34504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i="0" dirty="0">
                <a:effectLst/>
                <a:latin typeface="gg sans"/>
              </a:rPr>
              <a:t>Role for All Members: </a:t>
            </a:r>
            <a:r>
              <a:rPr lang="en-US" b="1" i="0" dirty="0">
                <a:effectLst/>
                <a:latin typeface="gg sans"/>
              </a:rPr>
              <a:t>AI Engineers</a:t>
            </a:r>
            <a:endParaRPr lang="en-US" b="1" dirty="0">
              <a:latin typeface="gg san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7CDA3AC-8AD2-4D18-A200-0C17D431633B}"/>
              </a:ext>
            </a:extLst>
          </p:cNvPr>
          <p:cNvSpPr txBox="1"/>
          <p:nvPr/>
        </p:nvSpPr>
        <p:spPr>
          <a:xfrm>
            <a:off x="5493798" y="1194205"/>
            <a:ext cx="312346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2800" i="0" dirty="0">
                <a:solidFill>
                  <a:srgbClr val="336EA8"/>
                </a:solidFill>
                <a:effectLst/>
                <a:latin typeface="gg sans"/>
              </a:rPr>
              <a:t>Key Responsibilities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7516980-AA20-4ED5-8792-72441BEFB98E}"/>
              </a:ext>
            </a:extLst>
          </p:cNvPr>
          <p:cNvSpPr txBox="1"/>
          <p:nvPr/>
        </p:nvSpPr>
        <p:spPr>
          <a:xfrm>
            <a:off x="5610687" y="1766778"/>
            <a:ext cx="6294269" cy="263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b="0" i="0" dirty="0">
                <a:effectLst/>
                <a:latin typeface="gg sans"/>
              </a:rPr>
              <a:t>Designing and managing the full data pipeline (collection, cleaning, preprocessing).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b="0" i="0" dirty="0">
                <a:effectLst/>
                <a:latin typeface="gg sans"/>
              </a:rPr>
              <a:t>Developing, training, and optimizing the gesture recognition model.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b="0" i="0" dirty="0">
                <a:effectLst/>
                <a:latin typeface="gg sans"/>
              </a:rPr>
              <a:t>Implementing the real-time detection and action‑triggering system.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b="0" i="0" dirty="0">
                <a:effectLst/>
                <a:latin typeface="gg sans"/>
              </a:rPr>
              <a:t>Ensuring system reliability through testing, debugging, and monitoring.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b="0" i="0" dirty="0">
                <a:effectLst/>
                <a:latin typeface="gg sans"/>
              </a:rPr>
              <a:t>Documenting the workflow and ensuring code maintainability.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4618048-E9CD-4FDD-A432-00CBF7C19E34}"/>
              </a:ext>
            </a:extLst>
          </p:cNvPr>
          <p:cNvSpPr txBox="1"/>
          <p:nvPr/>
        </p:nvSpPr>
        <p:spPr>
          <a:xfrm>
            <a:off x="142042" y="4003875"/>
            <a:ext cx="35954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2800" i="0" dirty="0">
                <a:solidFill>
                  <a:srgbClr val="336EA8"/>
                </a:solidFill>
                <a:effectLst/>
                <a:latin typeface="gg sans"/>
              </a:rPr>
              <a:t>Collaboration Methods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E402C1E-B248-4B14-8C8F-DBC1B3F44145}"/>
              </a:ext>
            </a:extLst>
          </p:cNvPr>
          <p:cNvSpPr txBox="1"/>
          <p:nvPr/>
        </p:nvSpPr>
        <p:spPr>
          <a:xfrm>
            <a:off x="612372" y="4728238"/>
            <a:ext cx="8789080" cy="11621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b="1" i="0" dirty="0">
                <a:effectLst/>
                <a:latin typeface="gg sans"/>
              </a:rPr>
              <a:t>Version Control:</a:t>
            </a:r>
            <a:r>
              <a:rPr lang="en-US" sz="1600" b="0" i="0" dirty="0">
                <a:effectLst/>
                <a:latin typeface="gg sans"/>
              </a:rPr>
              <a:t> Git/GitHub for code sharing and repository management.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b="1" i="0" dirty="0">
                <a:effectLst/>
                <a:latin typeface="gg sans"/>
              </a:rPr>
              <a:t>Communication:</a:t>
            </a:r>
            <a:r>
              <a:rPr lang="en-US" sz="1600" b="0" i="0" dirty="0">
                <a:effectLst/>
                <a:latin typeface="gg sans"/>
              </a:rPr>
              <a:t> Team coordination through messaging apps and meetings.(e.g. </a:t>
            </a:r>
            <a:r>
              <a:rPr lang="en-US" sz="1600" b="0" i="0" dirty="0" err="1">
                <a:effectLst/>
                <a:latin typeface="gg sans"/>
              </a:rPr>
              <a:t>Whatsapp</a:t>
            </a:r>
            <a:r>
              <a:rPr lang="en-US" sz="1600" dirty="0">
                <a:latin typeface="gg sans"/>
              </a:rPr>
              <a:t>, Discord)</a:t>
            </a:r>
            <a:endParaRPr lang="en-US" sz="1600" b="0" i="0" dirty="0">
              <a:effectLst/>
              <a:latin typeface="gg sans"/>
            </a:endParaRP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b="1" i="0" dirty="0">
                <a:effectLst/>
                <a:latin typeface="gg sans"/>
              </a:rPr>
              <a:t>Workflow:</a:t>
            </a:r>
            <a:r>
              <a:rPr lang="en-US" sz="1600" b="0" i="0" dirty="0">
                <a:effectLst/>
                <a:latin typeface="gg sans"/>
              </a:rPr>
              <a:t> Agile approach with task division and iterative updates.</a:t>
            </a:r>
          </a:p>
        </p:txBody>
      </p:sp>
    </p:spTree>
    <p:extLst>
      <p:ext uri="{BB962C8B-B14F-4D97-AF65-F5344CB8AC3E}">
        <p14:creationId xmlns:p14="http://schemas.microsoft.com/office/powerpoint/2010/main" val="42484082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5CAF39-AEFA-4EA4-9EE9-2CBC526D073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11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1C2A65B-BDF1-4E24-B4B1-F0DDA3863F09}"/>
              </a:ext>
            </a:extLst>
          </p:cNvPr>
          <p:cNvSpPr txBox="1"/>
          <p:nvPr/>
        </p:nvSpPr>
        <p:spPr>
          <a:xfrm>
            <a:off x="3481803" y="2705725"/>
            <a:ext cx="5228393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/>
            <a:r>
              <a:rPr lang="en-US" sz="8800" b="0" i="0" dirty="0">
                <a:solidFill>
                  <a:srgbClr val="047954"/>
                </a:solidFill>
                <a:effectLst/>
                <a:latin typeface="gg sans"/>
              </a:rPr>
              <a:t>Thank You</a:t>
            </a:r>
          </a:p>
        </p:txBody>
      </p:sp>
      <p:pic>
        <p:nvPicPr>
          <p:cNvPr id="7" name="Google Shape;110;p1">
            <a:extLst>
              <a:ext uri="{FF2B5EF4-FFF2-40B4-BE49-F238E27FC236}">
                <a16:creationId xmlns:a16="http://schemas.microsoft.com/office/drawing/2014/main" id="{0D5B659A-2072-4413-9306-3E3810187034}"/>
              </a:ext>
            </a:extLst>
          </p:cNvPr>
          <p:cNvPicPr preferRelativeResize="0"/>
          <p:nvPr/>
        </p:nvPicPr>
        <p:blipFill>
          <a:blip r:embed="rId2"/>
          <a:srcRect/>
          <a:stretch/>
        </p:blipFill>
        <p:spPr>
          <a:xfrm>
            <a:off x="9010943" y="6291124"/>
            <a:ext cx="1362250" cy="365125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Google Shape;215;p11">
            <a:extLst>
              <a:ext uri="{FF2B5EF4-FFF2-40B4-BE49-F238E27FC236}">
                <a16:creationId xmlns:a16="http://schemas.microsoft.com/office/drawing/2014/main" id="{9CA36108-B917-4496-A6BA-9590B8BEF1F3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cs typeface="Calibri"/>
                <a:sym typeface="Calibri"/>
              </a:rPr>
              <a:t>11/30/25</a:t>
            </a:r>
          </a:p>
        </p:txBody>
      </p:sp>
    </p:spTree>
    <p:extLst>
      <p:ext uri="{BB962C8B-B14F-4D97-AF65-F5344CB8AC3E}">
        <p14:creationId xmlns:p14="http://schemas.microsoft.com/office/powerpoint/2010/main" val="35233129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B4FC34-6329-440A-92BA-D80FF4C890F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12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96BAFF-F73A-4A2F-ADC8-908143642308}"/>
              </a:ext>
            </a:extLst>
          </p:cNvPr>
          <p:cNvSpPr txBox="1"/>
          <p:nvPr/>
        </p:nvSpPr>
        <p:spPr>
          <a:xfrm>
            <a:off x="2774086" y="2767280"/>
            <a:ext cx="6643827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/>
            <a:r>
              <a:rPr lang="en-US" sz="8000" b="0" i="0" dirty="0">
                <a:solidFill>
                  <a:srgbClr val="D7B119"/>
                </a:solidFill>
                <a:effectLst/>
                <a:latin typeface="gg sans"/>
              </a:rPr>
              <a:t>Any Questions?</a:t>
            </a:r>
          </a:p>
        </p:txBody>
      </p:sp>
      <p:sp>
        <p:nvSpPr>
          <p:cNvPr id="7" name="Google Shape;215;p11">
            <a:extLst>
              <a:ext uri="{FF2B5EF4-FFF2-40B4-BE49-F238E27FC236}">
                <a16:creationId xmlns:a16="http://schemas.microsoft.com/office/drawing/2014/main" id="{379CEF67-D556-440D-B136-28AFE1AD15C7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cs typeface="Calibri"/>
                <a:sym typeface="Calibri"/>
              </a:rPr>
              <a:t>11/30/25</a:t>
            </a:r>
          </a:p>
        </p:txBody>
      </p:sp>
      <p:pic>
        <p:nvPicPr>
          <p:cNvPr id="8" name="Google Shape;110;p1">
            <a:extLst>
              <a:ext uri="{FF2B5EF4-FFF2-40B4-BE49-F238E27FC236}">
                <a16:creationId xmlns:a16="http://schemas.microsoft.com/office/drawing/2014/main" id="{4DA0E285-4D95-491F-B933-6FDA06074BA4}"/>
              </a:ext>
            </a:extLst>
          </p:cNvPr>
          <p:cNvPicPr preferRelativeResize="0"/>
          <p:nvPr/>
        </p:nvPicPr>
        <p:blipFill>
          <a:blip r:embed="rId2"/>
          <a:srcRect/>
          <a:stretch/>
        </p:blipFill>
        <p:spPr>
          <a:xfrm>
            <a:off x="9010943" y="6291124"/>
            <a:ext cx="1362250" cy="36512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750488903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301</TotalTime>
  <Words>1083</Words>
  <Application>Microsoft Office PowerPoint</Application>
  <PresentationFormat>Widescreen</PresentationFormat>
  <Paragraphs>134</Paragraphs>
  <Slides>12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gg sans</vt:lpstr>
      <vt:lpstr>1_Office Theme</vt:lpstr>
      <vt:lpstr>Real-Time Hand Gesture Recognition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Real-Time Hand Gesture Recognition </dc:title>
  <dc:creator>احمد محمد احمد البدوى عبدالجواد</dc:creator>
  <cp:lastModifiedBy>احمد محمد احمد البدوى عبدالجواد</cp:lastModifiedBy>
  <cp:revision>28</cp:revision>
  <dcterms:created xsi:type="dcterms:W3CDTF">2025-11-29T18:00:24Z</dcterms:created>
  <dcterms:modified xsi:type="dcterms:W3CDTF">2025-12-09T13:43:27Z</dcterms:modified>
</cp:coreProperties>
</file>